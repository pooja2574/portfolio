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sldIdLst>
    <p:sldId id="257" r:id="rId2"/>
    <p:sldId id="256" r:id="rId3"/>
    <p:sldId id="258" r:id="rId4"/>
    <p:sldId id="260" r:id="rId5"/>
    <p:sldId id="261" r:id="rId6"/>
    <p:sldId id="259"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6BE64A2-1915-4FCF-BB42-0EBF93333590}" type="datetimeFigureOut">
              <a:rPr lang="en-US" smtClean="0"/>
              <a:t>11/27/2020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79C1A6-3829-49FC-B65F-CAEF0258F8F8}" type="slidenum">
              <a:rPr lang="en-US" smtClean="0"/>
              <a:t>‹#›</a:t>
            </a:fld>
            <a:endParaRPr lang="en-US"/>
          </a:p>
        </p:txBody>
      </p:sp>
    </p:spTree>
    <p:extLst>
      <p:ext uri="{BB962C8B-B14F-4D97-AF65-F5344CB8AC3E}">
        <p14:creationId xmlns:p14="http://schemas.microsoft.com/office/powerpoint/2010/main" val="613867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79C1A6-3829-49FC-B65F-CAEF0258F8F8}" type="slidenum">
              <a:rPr lang="en-US" smtClean="0"/>
              <a:t>12</a:t>
            </a:fld>
            <a:endParaRPr lang="en-US"/>
          </a:p>
        </p:txBody>
      </p:sp>
    </p:spTree>
    <p:extLst>
      <p:ext uri="{BB962C8B-B14F-4D97-AF65-F5344CB8AC3E}">
        <p14:creationId xmlns:p14="http://schemas.microsoft.com/office/powerpoint/2010/main" val="27486742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16216F7-531C-4AA2-B1E5-14906BB6C7BC}" type="datetimeFigureOut">
              <a:rPr lang="en-US" smtClean="0"/>
              <a:t>11/27/2020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FE62FA5-7CD5-4F67-9578-EB8144EDEDF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FE62FA5-7CD5-4F67-9578-EB8144EDEDF5}" type="slidenum">
              <a:rPr lang="en-US" smtClean="0"/>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FE62FA5-7CD5-4F67-9578-EB8144EDEDF5}" type="slidenum">
              <a:rPr lang="en-US" smtClean="0"/>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FE62FA5-7CD5-4F67-9578-EB8144EDEDF5}" type="slidenum">
              <a:rPr lang="en-US" smtClean="0"/>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FFE62FA5-7CD5-4F67-9578-EB8144EDEDF5}"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FFE62FA5-7CD5-4F67-9578-EB8144EDEDF5}" type="slidenum">
              <a:rPr lang="en-US" smtClean="0"/>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FFE62FA5-7CD5-4F67-9578-EB8144EDEDF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416216F7-531C-4AA2-B1E5-14906BB6C7BC}" type="datetimeFigureOut">
              <a:rPr lang="en-US" smtClean="0"/>
              <a:t>11/27/2020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FFE62FA5-7CD5-4F67-9578-EB8144EDEDF5}"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416216F7-531C-4AA2-B1E5-14906BB6C7BC}" type="datetimeFigureOut">
              <a:rPr lang="en-US" smtClean="0"/>
              <a:t>11/27/2020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FE62FA5-7CD5-4F67-9578-EB8144EDEDF5}" type="slidenum">
              <a:rPr lang="en-US" smtClean="0"/>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FE62FA5-7CD5-4F67-9578-EB8144EDEDF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16216F7-531C-4AA2-B1E5-14906BB6C7BC}" type="datetimeFigureOut">
              <a:rPr lang="en-US" smtClean="0"/>
              <a:t>11/27/2020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FFE62FA5-7CD5-4F67-9578-EB8144EDEDF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416216F7-531C-4AA2-B1E5-14906BB6C7BC}" type="datetimeFigureOut">
              <a:rPr lang="en-US" smtClean="0"/>
              <a:t>11/27/2020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FE62FA5-7CD5-4F67-9578-EB8144EDEDF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365760"/>
            <a:ext cx="7520940" cy="1158240"/>
          </a:xfrm>
        </p:spPr>
        <p:txBody>
          <a:bodyPr>
            <a:normAutofit fontScale="90000"/>
          </a:bodyPr>
          <a:lstStyle/>
          <a:p>
            <a:r>
              <a:rPr lang="en-US" u="sng" dirty="0" smtClean="0"/>
              <a:t>The Online Student enrollment system</a:t>
            </a:r>
            <a:endParaRPr lang="en-US" u="sng" dirty="0"/>
          </a:p>
        </p:txBody>
      </p:sp>
      <p:sp>
        <p:nvSpPr>
          <p:cNvPr id="5" name="Rectangle 4"/>
          <p:cNvSpPr/>
          <p:nvPr/>
        </p:nvSpPr>
        <p:spPr>
          <a:xfrm>
            <a:off x="2743200" y="3429000"/>
            <a:ext cx="4965700" cy="1569660"/>
          </a:xfrm>
          <a:prstGeom prst="rect">
            <a:avLst/>
          </a:prstGeom>
        </p:spPr>
        <p:txBody>
          <a:bodyPr wrap="square">
            <a:spAutoFit/>
          </a:bodyPr>
          <a:lstStyle/>
          <a:p>
            <a:pPr lvl="0"/>
            <a:r>
              <a:rPr lang="en-US" sz="4800" b="1" cap="all" dirty="0">
                <a:ln w="9000" cmpd="sng">
                  <a:solidFill>
                    <a:srgbClr val="39639D">
                      <a:shade val="50000"/>
                      <a:satMod val="120000"/>
                    </a:srgbClr>
                  </a:solidFill>
                  <a:prstDash val="solid"/>
                </a:ln>
                <a:gradFill>
                  <a:gsLst>
                    <a:gs pos="0">
                      <a:srgbClr val="39639D">
                        <a:shade val="20000"/>
                        <a:satMod val="245000"/>
                      </a:srgbClr>
                    </a:gs>
                    <a:gs pos="43000">
                      <a:srgbClr val="39639D">
                        <a:satMod val="255000"/>
                      </a:srgbClr>
                    </a:gs>
                    <a:gs pos="48000">
                      <a:srgbClr val="39639D">
                        <a:shade val="85000"/>
                        <a:satMod val="255000"/>
                      </a:srgbClr>
                    </a:gs>
                    <a:gs pos="100000">
                      <a:srgbClr val="39639D">
                        <a:shade val="20000"/>
                        <a:satMod val="245000"/>
                      </a:srgbClr>
                    </a:gs>
                  </a:gsLst>
                  <a:lin ang="5400000"/>
                </a:gradFill>
                <a:effectLst>
                  <a:reflection blurRad="12700" stA="28000" endPos="45000" dist="1000" dir="5400000" sy="-100000" algn="bl" rotWithShape="0"/>
                </a:effectLst>
              </a:rPr>
              <a:t>ABC  University</a:t>
            </a:r>
            <a:endParaRPr lang="en-US" sz="4800" b="1" cap="all" dirty="0">
              <a:ln w="9000" cmpd="sng">
                <a:solidFill>
                  <a:srgbClr val="39639D">
                    <a:shade val="50000"/>
                    <a:satMod val="120000"/>
                  </a:srgbClr>
                </a:solidFill>
                <a:prstDash val="solid"/>
              </a:ln>
              <a:gradFill>
                <a:gsLst>
                  <a:gs pos="0">
                    <a:srgbClr val="39639D">
                      <a:shade val="20000"/>
                      <a:satMod val="245000"/>
                    </a:srgbClr>
                  </a:gs>
                  <a:gs pos="43000">
                    <a:srgbClr val="39639D">
                      <a:satMod val="255000"/>
                    </a:srgbClr>
                  </a:gs>
                  <a:gs pos="48000">
                    <a:srgbClr val="39639D">
                      <a:shade val="85000"/>
                      <a:satMod val="255000"/>
                    </a:srgbClr>
                  </a:gs>
                  <a:gs pos="100000">
                    <a:srgbClr val="39639D">
                      <a:shade val="20000"/>
                      <a:satMod val="245000"/>
                    </a:srgb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7323902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762001"/>
            <a:ext cx="6858000" cy="838199"/>
          </a:xfrm>
        </p:spPr>
        <p:txBody>
          <a:bodyPr/>
          <a:lstStyle/>
          <a:p>
            <a:r>
              <a:rPr lang="en-US" b="1" u="sng" dirty="0" smtClean="0"/>
              <a:t>ABC University</a:t>
            </a:r>
            <a:endParaRPr lang="en-US" b="1" u="sng" dirty="0"/>
          </a:p>
        </p:txBody>
      </p:sp>
      <p:sp>
        <p:nvSpPr>
          <p:cNvPr id="3" name="Subtitle 2"/>
          <p:cNvSpPr>
            <a:spLocks noGrp="1"/>
          </p:cNvSpPr>
          <p:nvPr>
            <p:ph type="subTitle" idx="1"/>
          </p:nvPr>
        </p:nvSpPr>
        <p:spPr>
          <a:xfrm>
            <a:off x="1371600" y="2667000"/>
            <a:ext cx="6400800" cy="3225225"/>
          </a:xfrm>
        </p:spPr>
        <p:txBody>
          <a:bodyPr>
            <a:normAutofit/>
          </a:bodyPr>
          <a:lstStyle/>
          <a:p>
            <a:pPr algn="l"/>
            <a:r>
              <a:rPr lang="en-IN" sz="1800" dirty="0">
                <a:latin typeface="Times New Roman" pitchFamily="18" charset="0"/>
                <a:cs typeface="Times New Roman" pitchFamily="18" charset="0"/>
              </a:rPr>
              <a:t>Online Student Enrolment </a:t>
            </a:r>
            <a:r>
              <a:rPr lang="en-IN" sz="1800" dirty="0" smtClean="0">
                <a:latin typeface="Times New Roman" pitchFamily="18" charset="0"/>
                <a:cs typeface="Times New Roman" pitchFamily="18" charset="0"/>
              </a:rPr>
              <a:t>System been proposed that will </a:t>
            </a:r>
            <a:r>
              <a:rPr lang="en-IN" sz="1800" dirty="0">
                <a:latin typeface="Times New Roman" pitchFamily="18" charset="0"/>
                <a:cs typeface="Times New Roman" pitchFamily="18" charset="0"/>
              </a:rPr>
              <a:t>be useful to enhance automation of work processes within the university. Currently, all processes pertaining to student enrolment, tuition fee payment, time table, course registration, etc. </a:t>
            </a:r>
            <a:r>
              <a:rPr lang="en-IN" sz="1800" dirty="0" smtClean="0">
                <a:latin typeface="Times New Roman" pitchFamily="18" charset="0"/>
                <a:cs typeface="Times New Roman" pitchFamily="18" charset="0"/>
              </a:rPr>
              <a:t> It manages the enrolment of the students who wants to register for a online various class. </a:t>
            </a:r>
            <a:endParaRPr lang="en-US" sz="1800" dirty="0">
              <a:solidFill>
                <a:schemeClr val="accent6"/>
              </a:solidFill>
              <a:latin typeface="Times New Roman" pitchFamily="18" charset="0"/>
              <a:cs typeface="Times New Roman" pitchFamily="18" charset="0"/>
            </a:endParaRPr>
          </a:p>
        </p:txBody>
      </p:sp>
      <p:sp>
        <p:nvSpPr>
          <p:cNvPr id="4" name="Rectangle 3"/>
          <p:cNvSpPr/>
          <p:nvPr/>
        </p:nvSpPr>
        <p:spPr>
          <a:xfrm>
            <a:off x="1067583" y="1828800"/>
            <a:ext cx="2262991" cy="584775"/>
          </a:xfrm>
          <a:prstGeom prst="rect">
            <a:avLst/>
          </a:prstGeom>
        </p:spPr>
        <p:txBody>
          <a:bodyPr wrap="none">
            <a:spAutoFit/>
          </a:bodyPr>
          <a:lstStyle/>
          <a:p>
            <a:pPr lvl="0" algn="ctr">
              <a:spcBef>
                <a:spcPct val="20000"/>
              </a:spcBef>
            </a:pPr>
            <a:r>
              <a:rPr lang="en-US" sz="3200" dirty="0">
                <a:solidFill>
                  <a:srgbClr val="F79646"/>
                </a:solidFill>
                <a:latin typeface="Times New Roman" pitchFamily="18" charset="0"/>
                <a:cs typeface="Times New Roman" pitchFamily="18" charset="0"/>
              </a:rPr>
              <a:t>Introduction</a:t>
            </a:r>
            <a:endParaRPr lang="en-US" sz="3200" dirty="0">
              <a:solidFill>
                <a:srgbClr val="F79646"/>
              </a:solidFill>
              <a:latin typeface="Times New Roman" pitchFamily="18" charset="0"/>
              <a:cs typeface="Times New Roman" pitchFamily="18" charset="0"/>
            </a:endParaRPr>
          </a:p>
        </p:txBody>
      </p:sp>
    </p:spTree>
    <p:extLst>
      <p:ext uri="{BB962C8B-B14F-4D97-AF65-F5344CB8AC3E}">
        <p14:creationId xmlns:p14="http://schemas.microsoft.com/office/powerpoint/2010/main" val="32450787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1600" dirty="0" smtClean="0"/>
              <a:t>ABC University have their several stakeholder who have a specific role in this system.</a:t>
            </a:r>
          </a:p>
          <a:p>
            <a:r>
              <a:rPr lang="en-US" sz="1600" dirty="0" smtClean="0"/>
              <a:t>Some stakeholders of online enrollment system are</a:t>
            </a:r>
          </a:p>
          <a:p>
            <a:r>
              <a:rPr lang="en-US" sz="1600" dirty="0" smtClean="0"/>
              <a:t>Students</a:t>
            </a:r>
          </a:p>
          <a:p>
            <a:r>
              <a:rPr lang="en-US" sz="1600" dirty="0" smtClean="0"/>
              <a:t>Student enrolment officer</a:t>
            </a:r>
          </a:p>
          <a:p>
            <a:r>
              <a:rPr lang="en-US" sz="1600" dirty="0" smtClean="0"/>
              <a:t>Program directors</a:t>
            </a:r>
          </a:p>
          <a:p>
            <a:r>
              <a:rPr lang="en-US" sz="1600" dirty="0" smtClean="0"/>
              <a:t>Vice Chancellor</a:t>
            </a:r>
          </a:p>
          <a:p>
            <a:r>
              <a:rPr lang="en-US" sz="1600" dirty="0" smtClean="0"/>
              <a:t>Pro vice chancellor</a:t>
            </a:r>
          </a:p>
          <a:p>
            <a:r>
              <a:rPr lang="en-US" sz="1600" dirty="0" smtClean="0"/>
              <a:t>Administration</a:t>
            </a:r>
            <a:endParaRPr lang="en-US" sz="1600" dirty="0"/>
          </a:p>
        </p:txBody>
      </p:sp>
      <p:sp>
        <p:nvSpPr>
          <p:cNvPr id="3" name="Title 2"/>
          <p:cNvSpPr>
            <a:spLocks noGrp="1"/>
          </p:cNvSpPr>
          <p:nvPr>
            <p:ph type="title"/>
          </p:nvPr>
        </p:nvSpPr>
        <p:spPr/>
        <p:txBody>
          <a:bodyPr>
            <a:normAutofit/>
          </a:bodyPr>
          <a:lstStyle/>
          <a:p>
            <a:r>
              <a:rPr lang="en-US" sz="3200" dirty="0" smtClean="0"/>
              <a:t>Key Stakeholders And Actor</a:t>
            </a:r>
            <a:endParaRPr lang="en-US" sz="3200" dirty="0"/>
          </a:p>
        </p:txBody>
      </p:sp>
    </p:spTree>
    <p:extLst>
      <p:ext uri="{BB962C8B-B14F-4D97-AF65-F5344CB8AC3E}">
        <p14:creationId xmlns:p14="http://schemas.microsoft.com/office/powerpoint/2010/main" val="14968283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endParaRPr lang="en-US" sz="1600" b="1" dirty="0"/>
          </a:p>
          <a:p>
            <a:pPr marL="109728" indent="0">
              <a:buNone/>
            </a:pPr>
            <a:r>
              <a:rPr lang="en-US" sz="1600" b="1" dirty="0" smtClean="0"/>
              <a:t>Home Page Module: </a:t>
            </a:r>
          </a:p>
          <a:p>
            <a:pPr marL="109728" indent="0">
              <a:lnSpc>
                <a:spcPct val="150000"/>
              </a:lnSpc>
              <a:buNone/>
            </a:pPr>
            <a:r>
              <a:rPr lang="en-US" sz="1600" dirty="0" smtClean="0"/>
              <a:t>In this type of module user will able to visit the introduction of the application and where he find the registration process to enroll any course of them . And also can find their required courses with the help of the search box given.  </a:t>
            </a:r>
            <a:endParaRPr lang="en-US" sz="1600" b="1" dirty="0" smtClean="0"/>
          </a:p>
        </p:txBody>
      </p:sp>
      <p:sp>
        <p:nvSpPr>
          <p:cNvPr id="3" name="Title 2"/>
          <p:cNvSpPr>
            <a:spLocks noGrp="1"/>
          </p:cNvSpPr>
          <p:nvPr>
            <p:ph type="title"/>
          </p:nvPr>
        </p:nvSpPr>
        <p:spPr/>
        <p:txBody>
          <a:bodyPr>
            <a:normAutofit fontScale="90000"/>
          </a:bodyPr>
          <a:lstStyle/>
          <a:p>
            <a:r>
              <a:rPr lang="en-US" sz="44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3000" y="1905000"/>
            <a:ext cx="3978991" cy="2390774"/>
          </a:xfrm>
          <a:prstGeom prst="rect">
            <a:avLst/>
          </a:prstGeom>
        </p:spPr>
      </p:pic>
    </p:spTree>
    <p:extLst>
      <p:ext uri="{BB962C8B-B14F-4D97-AF65-F5344CB8AC3E}">
        <p14:creationId xmlns:p14="http://schemas.microsoft.com/office/powerpoint/2010/main" val="360414581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600" b="1" dirty="0" smtClean="0"/>
              <a:t>Registration Module: </a:t>
            </a:r>
            <a:r>
              <a:rPr lang="en-US" sz="1600" dirty="0" smtClean="0"/>
              <a:t> </a:t>
            </a:r>
          </a:p>
          <a:p>
            <a:pPr marL="109728" indent="0">
              <a:lnSpc>
                <a:spcPct val="150000"/>
              </a:lnSpc>
              <a:buNone/>
            </a:pPr>
            <a:r>
              <a:rPr lang="en-US" sz="1600" dirty="0" smtClean="0"/>
              <a:t>In registration module new user have to register first by fill the registration/enrollment form. In which include the course also which user want to watch or to enroll according to his preference . After filling the required field in the form user will have to proceed the process .</a:t>
            </a:r>
            <a:endParaRPr lang="en-US" sz="1600" b="1" dirty="0" smtClean="0"/>
          </a:p>
          <a:p>
            <a:pPr marL="109728" indent="0">
              <a:buNone/>
            </a:pPr>
            <a:endParaRPr lang="en-US" sz="1600" dirty="0"/>
          </a:p>
        </p:txBody>
      </p:sp>
      <p:sp>
        <p:nvSpPr>
          <p:cNvPr id="3" name="Title 2"/>
          <p:cNvSpPr>
            <a:spLocks noGrp="1"/>
          </p:cNvSpPr>
          <p:nvPr>
            <p:ph type="title"/>
          </p:nvPr>
        </p:nvSpPr>
        <p:spPr/>
        <p:txBody>
          <a:bodyPr/>
          <a:lstStyle/>
          <a:p>
            <a:r>
              <a:rPr lang="en-US" sz="40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1371600"/>
            <a:ext cx="3390773" cy="3962400"/>
          </a:xfrm>
          <a:prstGeom prst="rect">
            <a:avLst/>
          </a:prstGeom>
        </p:spPr>
      </p:pic>
    </p:spTree>
    <p:extLst>
      <p:ext uri="{BB962C8B-B14F-4D97-AF65-F5344CB8AC3E}">
        <p14:creationId xmlns:p14="http://schemas.microsoft.com/office/powerpoint/2010/main" val="34383165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800" b="1" dirty="0" smtClean="0"/>
              <a:t>Login Module</a:t>
            </a:r>
            <a:r>
              <a:rPr lang="en-US" sz="1800" dirty="0" smtClean="0"/>
              <a:t>: </a:t>
            </a:r>
          </a:p>
          <a:p>
            <a:pPr marL="109728" indent="0">
              <a:lnSpc>
                <a:spcPct val="150000"/>
              </a:lnSpc>
              <a:buNone/>
            </a:pPr>
            <a:r>
              <a:rPr lang="en-US" sz="1600" dirty="0" smtClean="0"/>
              <a:t>In this module a user or student </a:t>
            </a:r>
          </a:p>
          <a:p>
            <a:pPr marL="109728" indent="0">
              <a:lnSpc>
                <a:spcPct val="150000"/>
              </a:lnSpc>
              <a:buNone/>
            </a:pPr>
            <a:r>
              <a:rPr lang="en-US" sz="1600" dirty="0" smtClean="0"/>
              <a:t>Would be able to access the  system with the help of login email id and the password. If he successfully logged In then he will directly  land on the Home page of the enrolment system.</a:t>
            </a:r>
          </a:p>
        </p:txBody>
      </p:sp>
      <p:sp>
        <p:nvSpPr>
          <p:cNvPr id="3" name="Title 2"/>
          <p:cNvSpPr>
            <a:spLocks noGrp="1"/>
          </p:cNvSpPr>
          <p:nvPr>
            <p:ph type="title"/>
          </p:nvPr>
        </p:nvSpPr>
        <p:spPr/>
        <p:txBody>
          <a:bodyPr>
            <a:normAutofit/>
          </a:bodyPr>
          <a:lstStyle/>
          <a:p>
            <a:r>
              <a:rPr lang="en-US" sz="3200" u="sng" dirty="0" smtClean="0"/>
              <a:t>Modules of </a:t>
            </a:r>
            <a:r>
              <a:rPr lang="en-US" sz="3200" u="sng" dirty="0"/>
              <a:t>Enrolment system</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1447800"/>
            <a:ext cx="2609850" cy="3486150"/>
          </a:xfrm>
          <a:prstGeom prst="rect">
            <a:avLst/>
          </a:prstGeom>
        </p:spPr>
      </p:pic>
    </p:spTree>
    <p:extLst>
      <p:ext uri="{BB962C8B-B14F-4D97-AF65-F5344CB8AC3E}">
        <p14:creationId xmlns:p14="http://schemas.microsoft.com/office/powerpoint/2010/main" val="11198053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600" b="1" dirty="0" smtClean="0"/>
              <a:t>Fee Payment Module:</a:t>
            </a:r>
          </a:p>
          <a:p>
            <a:pPr marL="109728" indent="0">
              <a:lnSpc>
                <a:spcPct val="150000"/>
              </a:lnSpc>
              <a:buNone/>
            </a:pPr>
            <a:r>
              <a:rPr lang="en-US" sz="1600" dirty="0" smtClean="0"/>
              <a:t>In this module application provides a functionality to users/student pay the fee via online options. And also this module aware the user about their fee pending and remind them to pay on time.</a:t>
            </a:r>
            <a:endParaRPr lang="en-US" sz="1600" dirty="0"/>
          </a:p>
        </p:txBody>
      </p:sp>
      <p:sp>
        <p:nvSpPr>
          <p:cNvPr id="3" name="Title 2"/>
          <p:cNvSpPr>
            <a:spLocks noGrp="1"/>
          </p:cNvSpPr>
          <p:nvPr>
            <p:ph type="title"/>
          </p:nvPr>
        </p:nvSpPr>
        <p:spPr/>
        <p:txBody>
          <a:bodyPr>
            <a:normAutofit fontScale="90000"/>
          </a:bodyPr>
          <a:lstStyle/>
          <a:p>
            <a:r>
              <a:rPr lang="en-US" sz="44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9200" y="1600200"/>
            <a:ext cx="3531177" cy="3962400"/>
          </a:xfrm>
          <a:prstGeom prst="rect">
            <a:avLst/>
          </a:prstGeom>
        </p:spPr>
      </p:pic>
    </p:spTree>
    <p:extLst>
      <p:ext uri="{BB962C8B-B14F-4D97-AF65-F5344CB8AC3E}">
        <p14:creationId xmlns:p14="http://schemas.microsoft.com/office/powerpoint/2010/main" val="28727893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600" b="1" dirty="0" smtClean="0"/>
              <a:t>Employee Module:</a:t>
            </a:r>
          </a:p>
          <a:p>
            <a:pPr marL="109728" indent="0">
              <a:buNone/>
            </a:pPr>
            <a:r>
              <a:rPr lang="en-US" sz="1600" dirty="0" smtClean="0"/>
              <a:t>In this module there are different type of employee  who can update delete and change any information in respect to time scheduling , classes updating, or for any regarding any queries. Officers and employee have their own roles and responsibilities to maintain the application system also handle the students queries.</a:t>
            </a:r>
            <a:endParaRPr lang="en-US" sz="1600" dirty="0"/>
          </a:p>
        </p:txBody>
      </p:sp>
      <p:sp>
        <p:nvSpPr>
          <p:cNvPr id="3" name="Title 2"/>
          <p:cNvSpPr>
            <a:spLocks noGrp="1"/>
          </p:cNvSpPr>
          <p:nvPr>
            <p:ph type="title"/>
          </p:nvPr>
        </p:nvSpPr>
        <p:spPr/>
        <p:txBody>
          <a:bodyPr/>
          <a:lstStyle/>
          <a:p>
            <a:r>
              <a:rPr lang="en-US" sz="40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8582" y="1447800"/>
            <a:ext cx="2743200" cy="3352800"/>
          </a:xfrm>
          <a:prstGeom prst="rect">
            <a:avLst/>
          </a:prstGeom>
        </p:spPr>
      </p:pic>
    </p:spTree>
    <p:extLst>
      <p:ext uri="{BB962C8B-B14F-4D97-AF65-F5344CB8AC3E}">
        <p14:creationId xmlns:p14="http://schemas.microsoft.com/office/powerpoint/2010/main" val="11400048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600" b="1" dirty="0" smtClean="0"/>
              <a:t>Student Enrolment Management:</a:t>
            </a:r>
          </a:p>
          <a:p>
            <a:pPr marL="109728" indent="0">
              <a:lnSpc>
                <a:spcPct val="150000"/>
              </a:lnSpc>
              <a:buNone/>
            </a:pPr>
            <a:r>
              <a:rPr lang="en-US" sz="1600" dirty="0" smtClean="0"/>
              <a:t>In this module of enrolment system a employee will handle the process regarding student their enrolment, their courses, their time scheduling and their report creation . Employee/ officer will handle all of the queries related to the student. </a:t>
            </a:r>
            <a:endParaRPr lang="en-US" sz="1600" dirty="0"/>
          </a:p>
        </p:txBody>
      </p:sp>
      <p:sp>
        <p:nvSpPr>
          <p:cNvPr id="3" name="Title 2"/>
          <p:cNvSpPr>
            <a:spLocks noGrp="1"/>
          </p:cNvSpPr>
          <p:nvPr>
            <p:ph type="title"/>
          </p:nvPr>
        </p:nvSpPr>
        <p:spPr/>
        <p:txBody>
          <a:bodyPr>
            <a:normAutofit fontScale="90000"/>
          </a:bodyPr>
          <a:lstStyle/>
          <a:p>
            <a:r>
              <a:rPr lang="en-US" sz="44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0200" y="1447800"/>
            <a:ext cx="2362200" cy="3429000"/>
          </a:xfrm>
          <a:prstGeom prst="rect">
            <a:avLst/>
          </a:prstGeom>
        </p:spPr>
      </p:pic>
    </p:spTree>
    <p:extLst>
      <p:ext uri="{BB962C8B-B14F-4D97-AF65-F5344CB8AC3E}">
        <p14:creationId xmlns:p14="http://schemas.microsoft.com/office/powerpoint/2010/main" val="766025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600" b="1" dirty="0" smtClean="0"/>
              <a:t>Time Tabling Management :</a:t>
            </a:r>
          </a:p>
          <a:p>
            <a:pPr marL="109728" indent="0">
              <a:lnSpc>
                <a:spcPct val="150000"/>
              </a:lnSpc>
              <a:buNone/>
            </a:pPr>
            <a:r>
              <a:rPr lang="en-US" sz="1600" dirty="0" smtClean="0"/>
              <a:t>In this management time table officer manages the time table of the  given courses and subject with respect to teachers and student feasibility. Also manage the time and course appropriately.</a:t>
            </a:r>
            <a:r>
              <a:rPr lang="en-IN" sz="1600" dirty="0" smtClean="0"/>
              <a:t>Time tabling officer  </a:t>
            </a:r>
            <a:r>
              <a:rPr lang="en-IN" sz="1600" dirty="0"/>
              <a:t>will also be able to use the proposed system for timely identification of clashes and ensuring that relevant timetables are developed in non-redundant format. </a:t>
            </a:r>
            <a:endParaRPr lang="en-US" sz="1600" dirty="0"/>
          </a:p>
          <a:p>
            <a:pPr marL="109728" indent="0">
              <a:buNone/>
            </a:pPr>
            <a:endParaRPr lang="en-US" sz="1600" dirty="0"/>
          </a:p>
        </p:txBody>
      </p:sp>
      <p:sp>
        <p:nvSpPr>
          <p:cNvPr id="3" name="Title 2"/>
          <p:cNvSpPr>
            <a:spLocks noGrp="1"/>
          </p:cNvSpPr>
          <p:nvPr>
            <p:ph type="title"/>
          </p:nvPr>
        </p:nvSpPr>
        <p:spPr/>
        <p:txBody>
          <a:bodyPr/>
          <a:lstStyle/>
          <a:p>
            <a:r>
              <a:rPr lang="en-US" sz="40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1752600"/>
            <a:ext cx="4105275" cy="3429000"/>
          </a:xfrm>
          <a:prstGeom prst="rect">
            <a:avLst/>
          </a:prstGeom>
        </p:spPr>
      </p:pic>
    </p:spTree>
    <p:extLst>
      <p:ext uri="{BB962C8B-B14F-4D97-AF65-F5344CB8AC3E}">
        <p14:creationId xmlns:p14="http://schemas.microsoft.com/office/powerpoint/2010/main" val="19677651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buNone/>
            </a:pPr>
            <a:r>
              <a:rPr lang="en-US" sz="1600" b="1" dirty="0" smtClean="0"/>
              <a:t>Program Management:</a:t>
            </a:r>
          </a:p>
          <a:p>
            <a:pPr marL="109728" indent="0">
              <a:lnSpc>
                <a:spcPct val="150000"/>
              </a:lnSpc>
              <a:buNone/>
            </a:pPr>
            <a:r>
              <a:rPr lang="en-US" sz="1600" dirty="0" smtClean="0"/>
              <a:t>In this module Program officer required to generate report and provide solutions to the students and acknowledge them regarding the updated details. Also provide  the information about the courses to the users.</a:t>
            </a:r>
            <a:endParaRPr lang="en-US" sz="1600" dirty="0"/>
          </a:p>
        </p:txBody>
      </p:sp>
      <p:sp>
        <p:nvSpPr>
          <p:cNvPr id="3" name="Title 2"/>
          <p:cNvSpPr>
            <a:spLocks noGrp="1"/>
          </p:cNvSpPr>
          <p:nvPr>
            <p:ph type="title"/>
          </p:nvPr>
        </p:nvSpPr>
        <p:spPr/>
        <p:txBody>
          <a:bodyPr>
            <a:normAutofit fontScale="90000"/>
          </a:bodyPr>
          <a:lstStyle/>
          <a:p>
            <a:r>
              <a:rPr lang="en-US" sz="4400" u="sng" dirty="0"/>
              <a:t>Modules of Enrolment system</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1524000"/>
            <a:ext cx="3028950" cy="3171825"/>
          </a:xfrm>
          <a:prstGeom prst="rect">
            <a:avLst/>
          </a:prstGeom>
        </p:spPr>
      </p:pic>
    </p:spTree>
    <p:extLst>
      <p:ext uri="{BB962C8B-B14F-4D97-AF65-F5344CB8AC3E}">
        <p14:creationId xmlns:p14="http://schemas.microsoft.com/office/powerpoint/2010/main" val="20857574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a:lnSpc>
                <a:spcPct val="150000"/>
              </a:lnSpc>
              <a:buFont typeface="Wingdings" pitchFamily="2" charset="2"/>
              <a:buChar char="q"/>
            </a:pPr>
            <a:r>
              <a:rPr lang="en-US" sz="1600" dirty="0" smtClean="0"/>
              <a:t>In this setting if user forgets the password then he can retrieve  it with the help of forget password setting.</a:t>
            </a:r>
          </a:p>
          <a:p>
            <a:pPr>
              <a:lnSpc>
                <a:spcPct val="150000"/>
              </a:lnSpc>
              <a:buFont typeface="Wingdings" pitchFamily="2" charset="2"/>
              <a:buChar char="q"/>
            </a:pPr>
            <a:r>
              <a:rPr lang="en-US" sz="1600" dirty="0" smtClean="0"/>
              <a:t>We have to click on the forget password and then we have a page on which we have to give a reference on which we can send password resetting information according to your preference and given criterion.</a:t>
            </a:r>
          </a:p>
          <a:p>
            <a:pPr marL="109728" indent="0">
              <a:buNone/>
            </a:pPr>
            <a:endParaRPr lang="en-US" sz="1600" dirty="0" smtClean="0"/>
          </a:p>
          <a:p>
            <a:pPr marL="109728" indent="0">
              <a:buNone/>
            </a:pPr>
            <a:r>
              <a:rPr lang="en-US" sz="1600" dirty="0" smtClean="0"/>
              <a:t>  </a:t>
            </a:r>
            <a:endParaRPr lang="en-US" sz="1600" dirty="0"/>
          </a:p>
        </p:txBody>
      </p:sp>
      <p:sp>
        <p:nvSpPr>
          <p:cNvPr id="3" name="Title 2"/>
          <p:cNvSpPr>
            <a:spLocks noGrp="1"/>
          </p:cNvSpPr>
          <p:nvPr>
            <p:ph type="title"/>
          </p:nvPr>
        </p:nvSpPr>
        <p:spPr/>
        <p:txBody>
          <a:bodyPr>
            <a:normAutofit/>
          </a:bodyPr>
          <a:lstStyle/>
          <a:p>
            <a:r>
              <a:rPr lang="en-US" sz="3200" u="sng" dirty="0" smtClean="0"/>
              <a:t>Forget Password</a:t>
            </a:r>
            <a:endParaRPr lang="en-US" sz="32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1752600"/>
            <a:ext cx="2600325" cy="2867025"/>
          </a:xfrm>
          <a:prstGeom prst="rect">
            <a:avLst/>
          </a:prstGeom>
        </p:spPr>
      </p:pic>
    </p:spTree>
    <p:extLst>
      <p:ext uri="{BB962C8B-B14F-4D97-AF65-F5344CB8AC3E}">
        <p14:creationId xmlns:p14="http://schemas.microsoft.com/office/powerpoint/2010/main" val="41603124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numCol="2">
            <a:normAutofit/>
          </a:bodyPr>
          <a:lstStyle/>
          <a:p>
            <a:pPr marL="109728" indent="0">
              <a:lnSpc>
                <a:spcPct val="150000"/>
              </a:lnSpc>
              <a:buNone/>
            </a:pPr>
            <a:r>
              <a:rPr lang="en-US" sz="1600" dirty="0" smtClean="0"/>
              <a:t>In this portal user/ student can take help for their different issues and facing any technical, educational, regarding payment etc. by this user any user can write their problems and issues and then write email id to provide solution to the user .you can also contact with the employers also.</a:t>
            </a:r>
            <a:endParaRPr lang="en-US" sz="1600" dirty="0"/>
          </a:p>
        </p:txBody>
      </p:sp>
      <p:sp>
        <p:nvSpPr>
          <p:cNvPr id="3" name="Title 2"/>
          <p:cNvSpPr>
            <a:spLocks noGrp="1"/>
          </p:cNvSpPr>
          <p:nvPr>
            <p:ph type="title"/>
          </p:nvPr>
        </p:nvSpPr>
        <p:spPr/>
        <p:txBody>
          <a:bodyPr>
            <a:normAutofit/>
          </a:bodyPr>
          <a:lstStyle/>
          <a:p>
            <a:r>
              <a:rPr lang="en-US" sz="3600" u="sng" dirty="0" smtClean="0"/>
              <a:t>Help Portal</a:t>
            </a:r>
            <a:endParaRPr lang="en-US" sz="3600" u="sng"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1447800"/>
            <a:ext cx="2914650" cy="3590925"/>
          </a:xfrm>
          <a:prstGeom prst="rect">
            <a:avLst/>
          </a:prstGeom>
        </p:spPr>
      </p:pic>
    </p:spTree>
    <p:extLst>
      <p:ext uri="{BB962C8B-B14F-4D97-AF65-F5344CB8AC3E}">
        <p14:creationId xmlns:p14="http://schemas.microsoft.com/office/powerpoint/2010/main" val="17718345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lnSpc>
                <a:spcPct val="150000"/>
              </a:lnSpc>
              <a:buNone/>
            </a:pPr>
            <a:r>
              <a:rPr lang="en-US" sz="1600" dirty="0"/>
              <a:t>This report has essentially </a:t>
            </a:r>
            <a:r>
              <a:rPr lang="en-US" sz="1600" dirty="0" smtClean="0"/>
              <a:t>centered </a:t>
            </a:r>
            <a:r>
              <a:rPr lang="en-US" sz="1600" dirty="0"/>
              <a:t>around spreading inside and out data about various parts of the Online Student Enrolment System which has been deliberately proposed by ABC University. In this report, significant partners and entertainers that are related to OSES have been completely talked about. Further, inside and out depiction has been given with respect to major utilitarian and non-useful prerequisites that must be available in the last form of the proposed frameworks. . Hence, this report has covered a wide exhibit of viewpoints relating to the proposed framework.</a:t>
            </a:r>
          </a:p>
        </p:txBody>
      </p:sp>
      <p:sp>
        <p:nvSpPr>
          <p:cNvPr id="3" name="Title 2"/>
          <p:cNvSpPr>
            <a:spLocks noGrp="1"/>
          </p:cNvSpPr>
          <p:nvPr>
            <p:ph type="title"/>
          </p:nvPr>
        </p:nvSpPr>
        <p:spPr/>
        <p:txBody>
          <a:bodyPr/>
          <a:lstStyle/>
          <a:p>
            <a:r>
              <a:rPr lang="en-US" sz="3600" u="sng" dirty="0" smtClean="0"/>
              <a:t>Conclusion</a:t>
            </a:r>
            <a:endParaRPr lang="en-US" sz="3600" u="sng" dirty="0"/>
          </a:p>
        </p:txBody>
      </p:sp>
    </p:spTree>
    <p:extLst>
      <p:ext uri="{BB962C8B-B14F-4D97-AF65-F5344CB8AC3E}">
        <p14:creationId xmlns:p14="http://schemas.microsoft.com/office/powerpoint/2010/main" val="33951552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nSpc>
                <a:spcPct val="150000"/>
              </a:lnSpc>
            </a:pPr>
            <a:r>
              <a:rPr lang="en-AU" sz="1400" dirty="0"/>
              <a:t>Walker, D., Bourne, L., &amp; Shelley, A. (2008). Influence, stakeholder mapping and visualization. </a:t>
            </a:r>
            <a:r>
              <a:rPr lang="en-AU" sz="1400" i="1" dirty="0"/>
              <a:t>Construction Management And Economics</a:t>
            </a:r>
            <a:r>
              <a:rPr lang="en-AU" sz="1400" dirty="0"/>
              <a:t>, </a:t>
            </a:r>
            <a:r>
              <a:rPr lang="en-AU" sz="1400" i="1" dirty="0"/>
              <a:t>26</a:t>
            </a:r>
            <a:r>
              <a:rPr lang="en-AU" sz="1400" dirty="0"/>
              <a:t>(6), 645-658. </a:t>
            </a:r>
            <a:r>
              <a:rPr lang="en-AU" sz="1400" dirty="0" err="1"/>
              <a:t>doi</a:t>
            </a:r>
            <a:r>
              <a:rPr lang="en-AU" sz="1400" dirty="0"/>
              <a:t>: 10.1080/01446190701882390</a:t>
            </a:r>
            <a:endParaRPr lang="en-US" sz="1400" dirty="0"/>
          </a:p>
          <a:p>
            <a:pPr>
              <a:lnSpc>
                <a:spcPct val="150000"/>
              </a:lnSpc>
            </a:pPr>
            <a:r>
              <a:rPr lang="en-IN" sz="1400" dirty="0"/>
              <a:t> </a:t>
            </a:r>
            <a:r>
              <a:rPr lang="en-AU" sz="1400" dirty="0"/>
              <a:t>Kumar, R., &amp; Krishnan, V. (2017). Reliability Availability and Maintainability Analysis of the Systems. </a:t>
            </a:r>
            <a:r>
              <a:rPr lang="en-AU" sz="1400" i="1" dirty="0"/>
              <a:t>Journal Of Mathematics And Informatics</a:t>
            </a:r>
            <a:r>
              <a:rPr lang="en-AU" sz="1400" dirty="0"/>
              <a:t>, </a:t>
            </a:r>
            <a:r>
              <a:rPr lang="en-AU" sz="1400" i="1" dirty="0"/>
              <a:t>11</a:t>
            </a:r>
            <a:r>
              <a:rPr lang="en-AU" sz="1400" dirty="0"/>
              <a:t>, 131-141. </a:t>
            </a:r>
            <a:r>
              <a:rPr lang="en-AU" sz="1400" dirty="0" err="1"/>
              <a:t>doi</a:t>
            </a:r>
            <a:r>
              <a:rPr lang="en-AU" sz="1400" dirty="0"/>
              <a:t>: 10.22457/jmi.v11a17</a:t>
            </a:r>
            <a:endParaRPr lang="en-US" sz="1400" dirty="0"/>
          </a:p>
          <a:p>
            <a:pPr>
              <a:lnSpc>
                <a:spcPct val="150000"/>
              </a:lnSpc>
            </a:pPr>
            <a:r>
              <a:rPr lang="en-US" sz="1400" dirty="0"/>
              <a:t>Smith, A., Johnson, A., &amp; Nakamura, M. (2017). Designing and managing a fully online university pre-enrolment course in Japan.</a:t>
            </a:r>
          </a:p>
          <a:p>
            <a:pPr>
              <a:lnSpc>
                <a:spcPct val="150000"/>
              </a:lnSpc>
            </a:pPr>
            <a:endParaRPr lang="en-US" sz="1400" dirty="0"/>
          </a:p>
          <a:p>
            <a:pPr marL="109728" indent="0">
              <a:buNone/>
            </a:pPr>
            <a:endParaRPr lang="en-US" sz="1400" dirty="0"/>
          </a:p>
        </p:txBody>
      </p:sp>
      <p:sp>
        <p:nvSpPr>
          <p:cNvPr id="3" name="Title 2"/>
          <p:cNvSpPr>
            <a:spLocks noGrp="1"/>
          </p:cNvSpPr>
          <p:nvPr>
            <p:ph type="title"/>
          </p:nvPr>
        </p:nvSpPr>
        <p:spPr/>
        <p:txBody>
          <a:bodyPr/>
          <a:lstStyle/>
          <a:p>
            <a:r>
              <a:rPr lang="en-US" sz="3600" u="sng" dirty="0" smtClean="0"/>
              <a:t>Reference</a:t>
            </a:r>
            <a:endParaRPr lang="en-US" sz="3600" u="sng" dirty="0"/>
          </a:p>
        </p:txBody>
      </p:sp>
    </p:spTree>
    <p:extLst>
      <p:ext uri="{BB962C8B-B14F-4D97-AF65-F5344CB8AC3E}">
        <p14:creationId xmlns:p14="http://schemas.microsoft.com/office/powerpoint/2010/main" val="19895249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255</TotalTime>
  <Words>770</Words>
  <Application>Microsoft Office PowerPoint</Application>
  <PresentationFormat>On-screen Show (4:3)</PresentationFormat>
  <Paragraphs>54</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Concourse</vt:lpstr>
      <vt:lpstr>The Online Student enrollment system</vt:lpstr>
      <vt:lpstr>ABC University</vt:lpstr>
      <vt:lpstr>Key Stakeholders And Actor</vt:lpstr>
      <vt:lpstr>Modules of Enrolment system</vt:lpstr>
      <vt:lpstr>Modules of Enrolment system</vt:lpstr>
      <vt:lpstr>Modules of Enrolment system</vt:lpstr>
      <vt:lpstr>Modules of Enrolment system</vt:lpstr>
      <vt:lpstr>Modules of Enrolment system</vt:lpstr>
      <vt:lpstr>Modules of Enrolment system</vt:lpstr>
      <vt:lpstr>Modules of Enrolment system</vt:lpstr>
      <vt:lpstr>Modules of Enrolment system</vt:lpstr>
      <vt:lpstr>Forget Password</vt:lpstr>
      <vt:lpstr>Help Portal</vt:lpstr>
      <vt:lpstr>Conclusion</vt:lpstr>
      <vt:lpstr>Reference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ABC University</dc:title>
  <dc:creator>Moni</dc:creator>
  <cp:lastModifiedBy>Moni</cp:lastModifiedBy>
  <cp:revision>22</cp:revision>
  <dcterms:created xsi:type="dcterms:W3CDTF">2020-11-27T08:18:16Z</dcterms:created>
  <dcterms:modified xsi:type="dcterms:W3CDTF">2020-11-27T12:33:34Z</dcterms:modified>
</cp:coreProperties>
</file>