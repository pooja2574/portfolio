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12/10/2020</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777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12/10/2020</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2960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12/10/2020</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01384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12/10/2020</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79626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12/10/2020</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625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12/10/2020</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48775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12/10/2020</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50796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12/10/2020</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917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12/10/2020</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23331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12/10/2020</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58246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12/10/2020</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2579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12/10/2020</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11045606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06" r:id="rId6"/>
    <p:sldLayoutId id="2147483702" r:id="rId7"/>
    <p:sldLayoutId id="2147483703" r:id="rId8"/>
    <p:sldLayoutId id="2147483704" r:id="rId9"/>
    <p:sldLayoutId id="2147483705" r:id="rId10"/>
    <p:sldLayoutId id="2147483707"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een umbrella&#10;&#10;Description automatically generated">
            <a:extLst>
              <a:ext uri="{FF2B5EF4-FFF2-40B4-BE49-F238E27FC236}">
                <a16:creationId xmlns:a16="http://schemas.microsoft.com/office/drawing/2014/main" id="{08AF9C66-0474-4CD2-B3C1-1CB475D1FC7C}"/>
              </a:ext>
            </a:extLst>
          </p:cNvPr>
          <p:cNvPicPr>
            <a:picLocks noChangeAspect="1"/>
          </p:cNvPicPr>
          <p:nvPr/>
        </p:nvPicPr>
        <p:blipFill rotWithShape="1">
          <a:blip r:embed="rId2"/>
          <a:srcRect l="6349" r="9278" b="-1"/>
          <a:stretch/>
        </p:blipFill>
        <p:spPr>
          <a:xfrm>
            <a:off x="20" y="10"/>
            <a:ext cx="7848579" cy="6857990"/>
          </a:xfrm>
          <a:prstGeom prst="rect">
            <a:avLst/>
          </a:prstGeom>
        </p:spPr>
      </p:pic>
      <p:sp>
        <p:nvSpPr>
          <p:cNvPr id="11"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958C60-0786-4C7F-B852-0863962DFA3D}"/>
              </a:ext>
            </a:extLst>
          </p:cNvPr>
          <p:cNvSpPr>
            <a:spLocks noGrp="1"/>
          </p:cNvSpPr>
          <p:nvPr>
            <p:ph type="ctrTitle"/>
          </p:nvPr>
        </p:nvSpPr>
        <p:spPr>
          <a:xfrm>
            <a:off x="7848600" y="1122363"/>
            <a:ext cx="4023360" cy="3204134"/>
          </a:xfrm>
        </p:spPr>
        <p:txBody>
          <a:bodyPr anchor="b">
            <a:normAutofit/>
          </a:bodyPr>
          <a:lstStyle/>
          <a:p>
            <a:r>
              <a:rPr lang="en-HK" sz="4800" u="sng" dirty="0">
                <a:effectLst>
                  <a:outerShdw sx="1000" sy="1000" algn="ctr" rotWithShape="0">
                    <a:schemeClr val="tx1"/>
                  </a:outerShdw>
                </a:effectLst>
                <a:latin typeface="Bell MT" panose="02020503060305020303" pitchFamily="18" charset="0"/>
              </a:rPr>
              <a:t>Contactless Payment</a:t>
            </a:r>
          </a:p>
        </p:txBody>
      </p:sp>
      <p:sp>
        <p:nvSpPr>
          <p:cNvPr id="3" name="Subtitle 2">
            <a:extLst>
              <a:ext uri="{FF2B5EF4-FFF2-40B4-BE49-F238E27FC236}">
                <a16:creationId xmlns:a16="http://schemas.microsoft.com/office/drawing/2014/main" id="{4296C988-B8CB-4FCD-A57B-4E59A55E6E0D}"/>
              </a:ext>
            </a:extLst>
          </p:cNvPr>
          <p:cNvSpPr>
            <a:spLocks noGrp="1"/>
          </p:cNvSpPr>
          <p:nvPr>
            <p:ph type="subTitle" idx="1"/>
          </p:nvPr>
        </p:nvSpPr>
        <p:spPr>
          <a:xfrm>
            <a:off x="7848600" y="4872922"/>
            <a:ext cx="4023360" cy="1208141"/>
          </a:xfrm>
        </p:spPr>
        <p:txBody>
          <a:bodyPr>
            <a:normAutofit/>
          </a:bodyPr>
          <a:lstStyle/>
          <a:p>
            <a:r>
              <a:rPr lang="en-HK" sz="2000" dirty="0"/>
              <a:t>Contactless payment for making todays world digital….Go Cashless.</a:t>
            </a:r>
          </a:p>
        </p:txBody>
      </p:sp>
      <p:sp>
        <p:nvSpPr>
          <p:cNvPr id="19"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868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455D-655C-4FDF-B972-02C09821BACC}"/>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Introduction</a:t>
            </a:r>
            <a:endParaRPr lang="en-HK" dirty="0"/>
          </a:p>
        </p:txBody>
      </p:sp>
      <p:sp>
        <p:nvSpPr>
          <p:cNvPr id="3" name="Content Placeholder 2">
            <a:extLst>
              <a:ext uri="{FF2B5EF4-FFF2-40B4-BE49-F238E27FC236}">
                <a16:creationId xmlns:a16="http://schemas.microsoft.com/office/drawing/2014/main" id="{74193568-626A-45B2-8759-0FD5A2D44006}"/>
              </a:ext>
            </a:extLst>
          </p:cNvPr>
          <p:cNvSpPr>
            <a:spLocks noGrp="1"/>
          </p:cNvSpPr>
          <p:nvPr>
            <p:ph idx="1"/>
          </p:nvPr>
        </p:nvSpPr>
        <p:spPr/>
        <p:txBody>
          <a:bodyPr>
            <a:normAutofit/>
          </a:bodyPr>
          <a:lstStyle/>
          <a:p>
            <a:pPr marL="0" indent="0">
              <a:buNone/>
            </a:pPr>
            <a:r>
              <a:rPr lang="en-HK" sz="2000" dirty="0">
                <a:latin typeface="Century Gothic" panose="020B0502020202020204" pitchFamily="34" charset="0"/>
              </a:rPr>
              <a:t>The Assessment provide us the importance and awareness of using contactless payment, contactless payment is digital form of money transaction anywhere .</a:t>
            </a:r>
          </a:p>
          <a:p>
            <a:pPr marL="0" indent="0">
              <a:buNone/>
            </a:pPr>
            <a:endParaRPr lang="en-HK" sz="2000" dirty="0">
              <a:latin typeface="Century Gothic" panose="020B0502020202020204" pitchFamily="34" charset="0"/>
            </a:endParaRPr>
          </a:p>
          <a:p>
            <a:pPr marL="0" indent="0">
              <a:buNone/>
            </a:pPr>
            <a:r>
              <a:rPr lang="en-HK" sz="2000" u="sng" dirty="0">
                <a:latin typeface="Century Gothic" panose="020B0502020202020204" pitchFamily="34" charset="0"/>
              </a:rPr>
              <a:t>Aim of the topic Contactless Payment:</a:t>
            </a:r>
          </a:p>
          <a:p>
            <a:pPr marL="0" indent="0">
              <a:buNone/>
            </a:pPr>
            <a:r>
              <a:rPr lang="en-HK" sz="2000" dirty="0">
                <a:latin typeface="Century Gothic" panose="020B0502020202020204" pitchFamily="34" charset="0"/>
              </a:rPr>
              <a:t>Importance of the contactless payment.</a:t>
            </a:r>
          </a:p>
          <a:p>
            <a:pPr marL="0" indent="0">
              <a:buNone/>
            </a:pPr>
            <a:r>
              <a:rPr lang="en-HK" sz="2000" dirty="0">
                <a:latin typeface="Century Gothic" panose="020B0502020202020204" pitchFamily="34" charset="0"/>
              </a:rPr>
              <a:t>Why we use contactless payment.</a:t>
            </a:r>
          </a:p>
          <a:p>
            <a:pPr marL="0" indent="0">
              <a:buNone/>
            </a:pPr>
            <a:r>
              <a:rPr lang="en-HK" sz="2000" dirty="0">
                <a:latin typeface="Century Gothic" panose="020B0502020202020204" pitchFamily="34" charset="0"/>
              </a:rPr>
              <a:t>What are the security majors of contactless payment.</a:t>
            </a:r>
          </a:p>
          <a:p>
            <a:pPr marL="0" indent="0">
              <a:buNone/>
            </a:pPr>
            <a:r>
              <a:rPr lang="en-HK" sz="2000" dirty="0">
                <a:latin typeface="Century Gothic" panose="020B0502020202020204" pitchFamily="34" charset="0"/>
              </a:rPr>
              <a:t>What changes its takes in world.	</a:t>
            </a:r>
          </a:p>
          <a:p>
            <a:pPr marL="0" indent="0">
              <a:buNone/>
            </a:pPr>
            <a:endParaRPr lang="en-HK" sz="2000" dirty="0">
              <a:latin typeface="Century Gothic" panose="020B0502020202020204" pitchFamily="34" charset="0"/>
            </a:endParaRPr>
          </a:p>
        </p:txBody>
      </p:sp>
    </p:spTree>
    <p:extLst>
      <p:ext uri="{BB962C8B-B14F-4D97-AF65-F5344CB8AC3E}">
        <p14:creationId xmlns:p14="http://schemas.microsoft.com/office/powerpoint/2010/main" val="303546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2935-0FC5-4EA4-8218-ABFC49A98018}"/>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Research Questions</a:t>
            </a:r>
          </a:p>
        </p:txBody>
      </p:sp>
      <p:sp>
        <p:nvSpPr>
          <p:cNvPr id="3" name="Content Placeholder 2">
            <a:extLst>
              <a:ext uri="{FF2B5EF4-FFF2-40B4-BE49-F238E27FC236}">
                <a16:creationId xmlns:a16="http://schemas.microsoft.com/office/drawing/2014/main" id="{23453685-29B2-46EC-8514-3E9F0FB28EA2}"/>
              </a:ext>
            </a:extLst>
          </p:cNvPr>
          <p:cNvSpPr>
            <a:spLocks noGrp="1"/>
          </p:cNvSpPr>
          <p:nvPr>
            <p:ph idx="1"/>
          </p:nvPr>
        </p:nvSpPr>
        <p:spPr/>
        <p:txBody>
          <a:bodyPr/>
          <a:lstStyle/>
          <a:p>
            <a:r>
              <a:rPr lang="en-HK" sz="2000" dirty="0"/>
              <a:t>Why we use contactless payment?</a:t>
            </a:r>
          </a:p>
          <a:p>
            <a:r>
              <a:rPr lang="en-HK" sz="2000" dirty="0"/>
              <a:t>Methods we used for contactless payment?</a:t>
            </a:r>
          </a:p>
          <a:p>
            <a:r>
              <a:rPr lang="en-HK" sz="2000" dirty="0"/>
              <a:t>How secure the contactless payment is?</a:t>
            </a:r>
          </a:p>
          <a:p>
            <a:r>
              <a:rPr lang="en-HK" sz="2000" dirty="0"/>
              <a:t>Benefits of contactless payment?</a:t>
            </a:r>
          </a:p>
          <a:p>
            <a:r>
              <a:rPr lang="en-HK" sz="2000" dirty="0"/>
              <a:t>Future of Contactless Payment?</a:t>
            </a:r>
          </a:p>
          <a:p>
            <a:endParaRPr lang="en-HK" sz="2000" dirty="0"/>
          </a:p>
          <a:p>
            <a:endParaRPr lang="en-HK" dirty="0"/>
          </a:p>
        </p:txBody>
      </p:sp>
    </p:spTree>
    <p:extLst>
      <p:ext uri="{BB962C8B-B14F-4D97-AF65-F5344CB8AC3E}">
        <p14:creationId xmlns:p14="http://schemas.microsoft.com/office/powerpoint/2010/main" val="2921891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BC5D-BD57-46E6-99D9-226D6BC598C2}"/>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Contactless Payment:</a:t>
            </a:r>
          </a:p>
        </p:txBody>
      </p:sp>
      <p:sp>
        <p:nvSpPr>
          <p:cNvPr id="3" name="Content Placeholder 2">
            <a:extLst>
              <a:ext uri="{FF2B5EF4-FFF2-40B4-BE49-F238E27FC236}">
                <a16:creationId xmlns:a16="http://schemas.microsoft.com/office/drawing/2014/main" id="{A02C520C-5EFF-4B59-B8C0-0BCEE7D01B69}"/>
              </a:ext>
            </a:extLst>
          </p:cNvPr>
          <p:cNvSpPr>
            <a:spLocks noGrp="1"/>
          </p:cNvSpPr>
          <p:nvPr>
            <p:ph idx="1"/>
          </p:nvPr>
        </p:nvSpPr>
        <p:spPr/>
        <p:txBody>
          <a:bodyPr>
            <a:normAutofit/>
          </a:bodyPr>
          <a:lstStyle/>
          <a:p>
            <a:r>
              <a:rPr lang="en-HK" sz="2000" dirty="0">
                <a:latin typeface="Century Gothic" panose="020B0502020202020204" pitchFamily="34" charset="0"/>
              </a:rPr>
              <a:t>Contactless payment is the way of transaction with the help of credit card, debit card, smartcards and smart phones.</a:t>
            </a:r>
          </a:p>
          <a:p>
            <a:r>
              <a:rPr lang="en-HK" sz="2000" dirty="0">
                <a:latin typeface="Century Gothic" panose="020B0502020202020204" pitchFamily="34" charset="0"/>
              </a:rPr>
              <a:t>It is the system in which we can digitally transfer the money anywhere without cash.</a:t>
            </a:r>
          </a:p>
          <a:p>
            <a:r>
              <a:rPr lang="en-HK" sz="2000" dirty="0">
                <a:latin typeface="Century Gothic" panose="020B0502020202020204" pitchFamily="34" charset="0"/>
              </a:rPr>
              <a:t>Contactless payment is done by the help of many different devices nowadays.</a:t>
            </a:r>
          </a:p>
          <a:p>
            <a:r>
              <a:rPr lang="en-HK" sz="2000" dirty="0">
                <a:latin typeface="Century Gothic" panose="020B0502020202020204" pitchFamily="34" charset="0"/>
              </a:rPr>
              <a:t>Contactless payments are consist of tapping a card on a contactless source by which payment can be done.</a:t>
            </a:r>
          </a:p>
          <a:p>
            <a:pPr marL="0" indent="0">
              <a:buNone/>
            </a:pPr>
            <a:endParaRPr lang="en-HK" sz="2000" dirty="0">
              <a:latin typeface="Century Gothic" panose="020B0502020202020204" pitchFamily="34" charset="0"/>
            </a:endParaRPr>
          </a:p>
        </p:txBody>
      </p:sp>
    </p:spTree>
    <p:extLst>
      <p:ext uri="{BB962C8B-B14F-4D97-AF65-F5344CB8AC3E}">
        <p14:creationId xmlns:p14="http://schemas.microsoft.com/office/powerpoint/2010/main" val="903148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CC6D3-EDF2-4DFF-B764-A538CF265946}"/>
              </a:ext>
            </a:extLst>
          </p:cNvPr>
          <p:cNvSpPr>
            <a:spLocks noGrp="1"/>
          </p:cNvSpPr>
          <p:nvPr>
            <p:ph type="title"/>
          </p:nvPr>
        </p:nvSpPr>
        <p:spPr/>
        <p:txBody>
          <a:bodyPr>
            <a:normAutofit/>
          </a:bodyPr>
          <a:lstStyle/>
          <a:p>
            <a:r>
              <a:rPr lang="en-HK" u="sng" dirty="0">
                <a:latin typeface="Times New Roman" panose="02020603050405020304" pitchFamily="18" charset="0"/>
                <a:cs typeface="Times New Roman" panose="02020603050405020304" pitchFamily="18" charset="0"/>
              </a:rPr>
              <a:t>Methods How contactless payments works:</a:t>
            </a:r>
          </a:p>
        </p:txBody>
      </p:sp>
      <p:sp>
        <p:nvSpPr>
          <p:cNvPr id="3" name="Content Placeholder 2">
            <a:extLst>
              <a:ext uri="{FF2B5EF4-FFF2-40B4-BE49-F238E27FC236}">
                <a16:creationId xmlns:a16="http://schemas.microsoft.com/office/drawing/2014/main" id="{36AF395C-6571-4F7F-A41B-1173EC3A6549}"/>
              </a:ext>
            </a:extLst>
          </p:cNvPr>
          <p:cNvSpPr>
            <a:spLocks noGrp="1"/>
          </p:cNvSpPr>
          <p:nvPr>
            <p:ph idx="1"/>
          </p:nvPr>
        </p:nvSpPr>
        <p:spPr>
          <a:xfrm>
            <a:off x="1115568" y="2508504"/>
            <a:ext cx="10168128" cy="3694176"/>
          </a:xfrm>
        </p:spPr>
        <p:txBody>
          <a:bodyPr>
            <a:normAutofit/>
          </a:bodyPr>
          <a:lstStyle/>
          <a:p>
            <a:r>
              <a:rPr lang="en-HK" sz="2000" dirty="0">
                <a:latin typeface="Century Gothic" panose="020B0502020202020204" pitchFamily="34" charset="0"/>
              </a:rPr>
              <a:t>Contactless payment helps users to transact or pay and consume good and services with the help of cards and smart cards with RIFD technology includes in it.</a:t>
            </a:r>
          </a:p>
          <a:p>
            <a:r>
              <a:rPr lang="en-HK" sz="2000" dirty="0">
                <a:latin typeface="Century Gothic" panose="020B0502020202020204" pitchFamily="34" charset="0"/>
              </a:rPr>
              <a:t>Contactless payments nowadays can be done by the Mobile banking.</a:t>
            </a:r>
          </a:p>
          <a:p>
            <a:r>
              <a:rPr lang="en-HK" sz="2000" dirty="0">
                <a:latin typeface="Century Gothic" panose="020B0502020202020204" pitchFamily="34" charset="0"/>
              </a:rPr>
              <a:t>We just need a tap to use the services in  and mobile banking ,PIN doesn’t required in smart card payment.</a:t>
            </a:r>
          </a:p>
          <a:p>
            <a:r>
              <a:rPr lang="en-HK" sz="2000" dirty="0">
                <a:latin typeface="Century Gothic" panose="020B0502020202020204" pitchFamily="34" charset="0"/>
              </a:rPr>
              <a:t>It is very easy, fast and secure process.</a:t>
            </a:r>
          </a:p>
        </p:txBody>
      </p:sp>
    </p:spTree>
    <p:extLst>
      <p:ext uri="{BB962C8B-B14F-4D97-AF65-F5344CB8AC3E}">
        <p14:creationId xmlns:p14="http://schemas.microsoft.com/office/powerpoint/2010/main" val="1845057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AA2D2-A87E-4106-B2A9-60E674B2E682}"/>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Security Facts of contactless payment:</a:t>
            </a:r>
          </a:p>
        </p:txBody>
      </p:sp>
      <p:sp>
        <p:nvSpPr>
          <p:cNvPr id="3" name="Content Placeholder 2">
            <a:extLst>
              <a:ext uri="{FF2B5EF4-FFF2-40B4-BE49-F238E27FC236}">
                <a16:creationId xmlns:a16="http://schemas.microsoft.com/office/drawing/2014/main" id="{D3E3C63E-E474-47FF-9439-3D5026267475}"/>
              </a:ext>
            </a:extLst>
          </p:cNvPr>
          <p:cNvSpPr>
            <a:spLocks noGrp="1"/>
          </p:cNvSpPr>
          <p:nvPr>
            <p:ph idx="1"/>
          </p:nvPr>
        </p:nvSpPr>
        <p:spPr/>
        <p:txBody>
          <a:bodyPr>
            <a:normAutofit/>
          </a:bodyPr>
          <a:lstStyle/>
          <a:p>
            <a:r>
              <a:rPr lang="en-HK" sz="2000" dirty="0">
                <a:latin typeface="Century Gothic" panose="020B0502020202020204" pitchFamily="34" charset="0"/>
              </a:rPr>
              <a:t>Contactless payment devices works within short ranges (like 2-4 inches) so that it looses the chances of failure or any other unsafe threat while making payment.</a:t>
            </a:r>
          </a:p>
          <a:p>
            <a:r>
              <a:rPr lang="en-HK" sz="2000" dirty="0">
                <a:latin typeface="Century Gothic" panose="020B0502020202020204" pitchFamily="34" charset="0"/>
              </a:rPr>
              <a:t>Each and every contactless device has its ‘unique key’  it uses the encryption process to generate the verification of the card.</a:t>
            </a:r>
          </a:p>
          <a:p>
            <a:r>
              <a:rPr lang="en-HK" sz="2000" dirty="0">
                <a:latin typeface="Century Gothic" panose="020B0502020202020204" pitchFamily="34" charset="0"/>
              </a:rPr>
              <a:t>Contactless devices uses magnetic strips to make transaction more secure.</a:t>
            </a:r>
          </a:p>
          <a:p>
            <a:r>
              <a:rPr lang="en-HK" sz="2000" dirty="0">
                <a:latin typeface="Century Gothic" panose="020B0502020202020204" pitchFamily="34" charset="0"/>
              </a:rPr>
              <a:t>If anyhow your card details were leaked , but you actual name will never transfer so that others can not use it. </a:t>
            </a:r>
          </a:p>
          <a:p>
            <a:endParaRPr lang="en-HK" sz="2000" dirty="0">
              <a:latin typeface="Century Gothic" panose="020B0502020202020204" pitchFamily="34" charset="0"/>
            </a:endParaRPr>
          </a:p>
        </p:txBody>
      </p:sp>
    </p:spTree>
    <p:extLst>
      <p:ext uri="{BB962C8B-B14F-4D97-AF65-F5344CB8AC3E}">
        <p14:creationId xmlns:p14="http://schemas.microsoft.com/office/powerpoint/2010/main" val="1685255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7536-366E-499F-A00A-5758EF696E99}"/>
              </a:ext>
            </a:extLst>
          </p:cNvPr>
          <p:cNvSpPr>
            <a:spLocks noGrp="1"/>
          </p:cNvSpPr>
          <p:nvPr>
            <p:ph type="title"/>
          </p:nvPr>
        </p:nvSpPr>
        <p:spPr/>
        <p:txBody>
          <a:bodyPr>
            <a:normAutofit/>
          </a:bodyPr>
          <a:lstStyle/>
          <a:p>
            <a:r>
              <a:rPr lang="en-HK" u="sng" dirty="0">
                <a:latin typeface="Times New Roman" panose="02020603050405020304" pitchFamily="18" charset="0"/>
                <a:cs typeface="Times New Roman" panose="02020603050405020304" pitchFamily="18" charset="0"/>
              </a:rPr>
              <a:t>Types of contactless payment:</a:t>
            </a:r>
          </a:p>
        </p:txBody>
      </p:sp>
      <p:sp>
        <p:nvSpPr>
          <p:cNvPr id="3" name="Content Placeholder 2">
            <a:extLst>
              <a:ext uri="{FF2B5EF4-FFF2-40B4-BE49-F238E27FC236}">
                <a16:creationId xmlns:a16="http://schemas.microsoft.com/office/drawing/2014/main" id="{4C9F00AF-453A-4F83-B295-C72212FCE228}"/>
              </a:ext>
            </a:extLst>
          </p:cNvPr>
          <p:cNvSpPr>
            <a:spLocks noGrp="1"/>
          </p:cNvSpPr>
          <p:nvPr>
            <p:ph idx="1"/>
          </p:nvPr>
        </p:nvSpPr>
        <p:spPr>
          <a:xfrm>
            <a:off x="1115568" y="1940560"/>
            <a:ext cx="10168128" cy="4231640"/>
          </a:xfrm>
        </p:spPr>
        <p:txBody>
          <a:bodyPr>
            <a:normAutofit/>
          </a:bodyPr>
          <a:lstStyle/>
          <a:p>
            <a:pPr marL="0" indent="0">
              <a:buNone/>
            </a:pPr>
            <a:r>
              <a:rPr lang="en-HK" sz="2000" dirty="0">
                <a:latin typeface="Century Gothic" panose="020B0502020202020204" pitchFamily="34" charset="0"/>
              </a:rPr>
              <a:t>Contactless payment is very common way of payment nowadays, so there are many types of ways to pay with contact. Some are as follows:</a:t>
            </a:r>
          </a:p>
          <a:p>
            <a:r>
              <a:rPr lang="en-HK" sz="2000" dirty="0">
                <a:latin typeface="Century Gothic" panose="020B0502020202020204" pitchFamily="34" charset="0"/>
              </a:rPr>
              <a:t>RIFD</a:t>
            </a:r>
          </a:p>
          <a:p>
            <a:r>
              <a:rPr lang="en-HK" sz="2000" dirty="0">
                <a:latin typeface="Century Gothic" panose="020B0502020202020204" pitchFamily="34" charset="0"/>
              </a:rPr>
              <a:t>NFC</a:t>
            </a:r>
          </a:p>
          <a:p>
            <a:r>
              <a:rPr lang="en-HK" sz="2000" dirty="0">
                <a:latin typeface="Century Gothic" panose="020B0502020202020204" pitchFamily="34" charset="0"/>
              </a:rPr>
              <a:t>PayPass</a:t>
            </a:r>
          </a:p>
          <a:p>
            <a:r>
              <a:rPr lang="en-HK" sz="2000" dirty="0">
                <a:latin typeface="Century Gothic" panose="020B0502020202020204" pitchFamily="34" charset="0"/>
              </a:rPr>
              <a:t>PayWave Card</a:t>
            </a:r>
          </a:p>
          <a:p>
            <a:r>
              <a:rPr lang="en-HK" sz="2000" dirty="0">
                <a:latin typeface="Century Gothic" panose="020B0502020202020204" pitchFamily="34" charset="0"/>
              </a:rPr>
              <a:t>Visa Pay Wave</a:t>
            </a:r>
          </a:p>
          <a:p>
            <a:r>
              <a:rPr lang="en-HK" sz="2000" dirty="0">
                <a:latin typeface="Century Gothic" panose="020B0502020202020204" pitchFamily="34" charset="0"/>
              </a:rPr>
              <a:t>Mobile Banking</a:t>
            </a:r>
          </a:p>
          <a:p>
            <a:r>
              <a:rPr lang="en-HK" sz="2000" dirty="0">
                <a:latin typeface="Century Gothic" panose="020B0502020202020204" pitchFamily="34" charset="0"/>
              </a:rPr>
              <a:t>UPI payment </a:t>
            </a:r>
          </a:p>
          <a:p>
            <a:endParaRPr lang="en-HK" sz="2000" dirty="0">
              <a:latin typeface="Century Gothic" panose="020B0502020202020204" pitchFamily="34" charset="0"/>
            </a:endParaRPr>
          </a:p>
          <a:p>
            <a:endParaRPr lang="en-HK" sz="2000" dirty="0">
              <a:latin typeface="Century Gothic" panose="020B0502020202020204" pitchFamily="34" charset="0"/>
            </a:endParaRPr>
          </a:p>
        </p:txBody>
      </p:sp>
    </p:spTree>
    <p:extLst>
      <p:ext uri="{BB962C8B-B14F-4D97-AF65-F5344CB8AC3E}">
        <p14:creationId xmlns:p14="http://schemas.microsoft.com/office/powerpoint/2010/main" val="2400078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FFA6C-87FD-45A7-A6C7-B66C35330856}"/>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Why we use Contactless Payment</a:t>
            </a:r>
            <a:r>
              <a:rPr lang="en-HK"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FD1045E4-0B4C-420D-B569-EA2C02F389C2}"/>
              </a:ext>
            </a:extLst>
          </p:cNvPr>
          <p:cNvSpPr>
            <a:spLocks noGrp="1"/>
          </p:cNvSpPr>
          <p:nvPr>
            <p:ph idx="1"/>
          </p:nvPr>
        </p:nvSpPr>
        <p:spPr>
          <a:xfrm>
            <a:off x="1115568" y="2143760"/>
            <a:ext cx="10168128" cy="4028440"/>
          </a:xfrm>
        </p:spPr>
        <p:txBody>
          <a:bodyPr>
            <a:normAutofit/>
          </a:bodyPr>
          <a:lstStyle/>
          <a:p>
            <a:pPr marL="0" indent="0">
              <a:buNone/>
            </a:pPr>
            <a:r>
              <a:rPr lang="en-HK" sz="2000" b="1" dirty="0">
                <a:latin typeface="Century Gothic" panose="020B0502020202020204" pitchFamily="34" charset="0"/>
              </a:rPr>
              <a:t>Benefits of Contactless Payment:</a:t>
            </a:r>
          </a:p>
          <a:p>
            <a:r>
              <a:rPr lang="en-HK" sz="2000" b="1" dirty="0">
                <a:latin typeface="Century Gothic" panose="020B0502020202020204" pitchFamily="34" charset="0"/>
              </a:rPr>
              <a:t>Security</a:t>
            </a:r>
            <a:r>
              <a:rPr lang="en-HK" sz="2000" dirty="0">
                <a:latin typeface="Century Gothic" panose="020B0502020202020204" pitchFamily="34" charset="0"/>
              </a:rPr>
              <a:t>, it is the measure part of the any transaction contactless payment more secure then any other payment also its prevents with the unauthorised transactions.</a:t>
            </a:r>
          </a:p>
          <a:p>
            <a:r>
              <a:rPr lang="en-HK" sz="2000" b="1" dirty="0">
                <a:latin typeface="Century Gothic" panose="020B0502020202020204" pitchFamily="34" charset="0"/>
              </a:rPr>
              <a:t>Speed, </a:t>
            </a:r>
            <a:r>
              <a:rPr lang="en-HK" sz="2000" dirty="0">
                <a:latin typeface="Century Gothic" panose="020B0502020202020204" pitchFamily="34" charset="0"/>
              </a:rPr>
              <a:t>fast transaction in compatibly this is the fastest way of the transaction.</a:t>
            </a:r>
          </a:p>
          <a:p>
            <a:r>
              <a:rPr lang="en-HK" sz="2000" b="1" dirty="0">
                <a:latin typeface="Century Gothic" panose="020B0502020202020204" pitchFamily="34" charset="0"/>
              </a:rPr>
              <a:t>Convenient,</a:t>
            </a:r>
            <a:r>
              <a:rPr lang="en-HK" sz="2000" dirty="0">
                <a:latin typeface="Century Gothic" panose="020B0502020202020204" pitchFamily="34" charset="0"/>
              </a:rPr>
              <a:t> it is very convenient to card the smart card with you there is no need to carry the heavy wallets anymore.</a:t>
            </a:r>
          </a:p>
          <a:p>
            <a:r>
              <a:rPr lang="en-HK" sz="2000" b="1" dirty="0">
                <a:latin typeface="Century Gothic" panose="020B0502020202020204" pitchFamily="34" charset="0"/>
              </a:rPr>
              <a:t>Feasible</a:t>
            </a:r>
            <a:r>
              <a:rPr lang="en-HK" sz="2000" dirty="0">
                <a:latin typeface="Century Gothic" panose="020B0502020202020204" pitchFamily="34" charset="0"/>
              </a:rPr>
              <a:t>, we do not need to worry about cash change and return remaining amount or no need to count the money.</a:t>
            </a:r>
            <a:endParaRPr lang="en-HK" sz="2000" b="1" dirty="0">
              <a:latin typeface="Century Gothic" panose="020B0502020202020204" pitchFamily="34" charset="0"/>
            </a:endParaRPr>
          </a:p>
        </p:txBody>
      </p:sp>
    </p:spTree>
    <p:extLst>
      <p:ext uri="{BB962C8B-B14F-4D97-AF65-F5344CB8AC3E}">
        <p14:creationId xmlns:p14="http://schemas.microsoft.com/office/powerpoint/2010/main" val="4108938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40B2-4F46-4221-9035-760D108BF5FB}"/>
              </a:ext>
            </a:extLst>
          </p:cNvPr>
          <p:cNvSpPr>
            <a:spLocks noGrp="1"/>
          </p:cNvSpPr>
          <p:nvPr>
            <p:ph type="title"/>
          </p:nvPr>
        </p:nvSpPr>
        <p:spPr/>
        <p:txBody>
          <a:bodyPr/>
          <a:lstStyle/>
          <a:p>
            <a:r>
              <a:rPr lang="en-HK" u="sng" dirty="0">
                <a:latin typeface="Times New Roman" panose="02020603050405020304" pitchFamily="18" charset="0"/>
                <a:cs typeface="Times New Roman" panose="02020603050405020304" pitchFamily="18" charset="0"/>
              </a:rPr>
              <a:t>Economy Measures In contactless Payment</a:t>
            </a:r>
            <a:r>
              <a:rPr lang="en-HK"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0F93FFF2-D44F-4E4D-B4CD-3ADCE48220AB}"/>
              </a:ext>
            </a:extLst>
          </p:cNvPr>
          <p:cNvSpPr>
            <a:spLocks noGrp="1"/>
          </p:cNvSpPr>
          <p:nvPr>
            <p:ph idx="1"/>
          </p:nvPr>
        </p:nvSpPr>
        <p:spPr/>
        <p:txBody>
          <a:bodyPr>
            <a:normAutofit/>
          </a:bodyPr>
          <a:lstStyle/>
          <a:p>
            <a:pPr marL="0" indent="0">
              <a:lnSpc>
                <a:spcPct val="150000"/>
              </a:lnSpc>
              <a:buNone/>
            </a:pPr>
            <a:r>
              <a:rPr lang="en-HK" sz="2000" dirty="0">
                <a:latin typeface="Century Gothic" panose="020B0502020202020204" pitchFamily="34" charset="0"/>
              </a:rPr>
              <a:t>Contactless payment makes the transaction easy and fast .There is no hustle in making any purchase. So people consumes more goods and service rather then before. Everyone make every payment digitally. No one doesn’t face any barrier in any transaction or expense so it is beneficial to merchants and consumer gets their things.  </a:t>
            </a:r>
          </a:p>
          <a:p>
            <a:pPr marL="0" indent="0">
              <a:lnSpc>
                <a:spcPct val="150000"/>
              </a:lnSpc>
              <a:buNone/>
            </a:pPr>
            <a:r>
              <a:rPr lang="en-HK" sz="2000" dirty="0">
                <a:latin typeface="Century Gothic" panose="020B0502020202020204" pitchFamily="34" charset="0"/>
              </a:rPr>
              <a:t> </a:t>
            </a:r>
          </a:p>
        </p:txBody>
      </p:sp>
    </p:spTree>
    <p:extLst>
      <p:ext uri="{BB962C8B-B14F-4D97-AF65-F5344CB8AC3E}">
        <p14:creationId xmlns:p14="http://schemas.microsoft.com/office/powerpoint/2010/main" val="355906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55DB-4E56-4D92-895E-E061DFE9081A}"/>
              </a:ext>
            </a:extLst>
          </p:cNvPr>
          <p:cNvSpPr>
            <a:spLocks noGrp="1"/>
          </p:cNvSpPr>
          <p:nvPr>
            <p:ph type="title"/>
          </p:nvPr>
        </p:nvSpPr>
        <p:spPr/>
        <p:txBody>
          <a:bodyPr>
            <a:normAutofit fontScale="90000"/>
          </a:bodyPr>
          <a:lstStyle/>
          <a:p>
            <a:r>
              <a:rPr lang="en-HK" u="sng" dirty="0">
                <a:latin typeface="Times New Roman" panose="02020603050405020304" pitchFamily="18" charset="0"/>
                <a:cs typeface="Times New Roman" panose="02020603050405020304" pitchFamily="18" charset="0"/>
              </a:rPr>
              <a:t>Changes Occurs Due to the Contactless Payment </a:t>
            </a:r>
            <a:r>
              <a:rPr lang="en-HK"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F5527B8-5437-4D41-8F51-EA43E740A839}"/>
              </a:ext>
            </a:extLst>
          </p:cNvPr>
          <p:cNvSpPr>
            <a:spLocks noGrp="1"/>
          </p:cNvSpPr>
          <p:nvPr>
            <p:ph idx="1"/>
          </p:nvPr>
        </p:nvSpPr>
        <p:spPr>
          <a:xfrm>
            <a:off x="1076960" y="2082800"/>
            <a:ext cx="10206736" cy="4089400"/>
          </a:xfrm>
        </p:spPr>
        <p:txBody>
          <a:bodyPr>
            <a:normAutofit/>
          </a:bodyPr>
          <a:lstStyle/>
          <a:p>
            <a:pPr marL="0" indent="0">
              <a:buNone/>
            </a:pPr>
            <a:r>
              <a:rPr lang="en-HK" sz="2000" dirty="0">
                <a:latin typeface="Century Gothic" panose="020B0502020202020204" pitchFamily="34" charset="0"/>
              </a:rPr>
              <a:t>Contactless payment is the easiest way of transaction. Now everyone is switching on to contactless payment from cash payment. it is clear that this culture is spreading each and every day more widely.</a:t>
            </a:r>
          </a:p>
          <a:p>
            <a:pPr marL="0" indent="0">
              <a:buNone/>
            </a:pPr>
            <a:r>
              <a:rPr lang="en-HK" sz="2000" dirty="0">
                <a:latin typeface="Century Gothic" panose="020B0502020202020204" pitchFamily="34" charset="0"/>
              </a:rPr>
              <a:t>IN 2020 especially every one prefer to make contactless payment because of the pandemic situation no one wants make any type of physical contact with anything.</a:t>
            </a:r>
          </a:p>
          <a:p>
            <a:pPr marL="0" indent="0">
              <a:buNone/>
            </a:pPr>
            <a:r>
              <a:rPr lang="en-HK" sz="2000" dirty="0">
                <a:latin typeface="Century Gothic" panose="020B0502020202020204" pitchFamily="34" charset="0"/>
              </a:rPr>
              <a:t>In this scenario this type of payment method is more preferable then cash payment.</a:t>
            </a:r>
          </a:p>
        </p:txBody>
      </p:sp>
    </p:spTree>
    <p:extLst>
      <p:ext uri="{BB962C8B-B14F-4D97-AF65-F5344CB8AC3E}">
        <p14:creationId xmlns:p14="http://schemas.microsoft.com/office/powerpoint/2010/main" val="1530600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F0A64-DF23-4F06-B9F3-5F59EC6B7969}"/>
              </a:ext>
            </a:extLst>
          </p:cNvPr>
          <p:cNvSpPr>
            <a:spLocks noGrp="1"/>
          </p:cNvSpPr>
          <p:nvPr>
            <p:ph type="title"/>
          </p:nvPr>
        </p:nvSpPr>
        <p:spPr>
          <a:xfrm>
            <a:off x="1011936" y="264160"/>
            <a:ext cx="10168128" cy="1179576"/>
          </a:xfrm>
        </p:spPr>
        <p:txBody>
          <a:bodyPr/>
          <a:lstStyle/>
          <a:p>
            <a:r>
              <a:rPr lang="en-HK" u="sng" dirty="0">
                <a:latin typeface="Times New Roman" panose="02020603050405020304" pitchFamily="18" charset="0"/>
                <a:cs typeface="Times New Roman" panose="02020603050405020304" pitchFamily="18" charset="0"/>
              </a:rPr>
              <a:t>Future Of Contactless Payment</a:t>
            </a:r>
            <a:r>
              <a:rPr lang="en-HK"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9A35D644-EECB-446D-9F71-6DAD758954CC}"/>
              </a:ext>
            </a:extLst>
          </p:cNvPr>
          <p:cNvSpPr>
            <a:spLocks noGrp="1"/>
          </p:cNvSpPr>
          <p:nvPr>
            <p:ph idx="1"/>
          </p:nvPr>
        </p:nvSpPr>
        <p:spPr>
          <a:xfrm>
            <a:off x="1125728" y="2051304"/>
            <a:ext cx="10168128" cy="4004056"/>
          </a:xfrm>
        </p:spPr>
        <p:txBody>
          <a:bodyPr>
            <a:normAutofit/>
          </a:bodyPr>
          <a:lstStyle/>
          <a:p>
            <a:pPr marL="0" indent="0">
              <a:buNone/>
            </a:pPr>
            <a:r>
              <a:rPr lang="en-HK" sz="2000" dirty="0">
                <a:latin typeface="Century Gothic" panose="020B0502020202020204" pitchFamily="34" charset="0"/>
              </a:rPr>
              <a:t>Contactless payment have been enhanced by the wireless technologies advancements of money payment. It will be increasing day by day because of its benefits and easiness. There are some effective way of payment.</a:t>
            </a:r>
          </a:p>
          <a:p>
            <a:r>
              <a:rPr lang="en-HK" sz="2000" dirty="0">
                <a:latin typeface="Century Gothic" panose="020B0502020202020204" pitchFamily="34" charset="0"/>
              </a:rPr>
              <a:t>Micro ATM</a:t>
            </a:r>
          </a:p>
          <a:p>
            <a:r>
              <a:rPr lang="en-HK" sz="2000" dirty="0">
                <a:latin typeface="Century Gothic" panose="020B0502020202020204" pitchFamily="34" charset="0"/>
              </a:rPr>
              <a:t>Mobile Wallets</a:t>
            </a:r>
          </a:p>
          <a:p>
            <a:r>
              <a:rPr lang="en-HK" sz="2000" dirty="0">
                <a:latin typeface="Century Gothic" panose="020B0502020202020204" pitchFamily="34" charset="0"/>
              </a:rPr>
              <a:t>Internet Banking</a:t>
            </a:r>
          </a:p>
          <a:p>
            <a:r>
              <a:rPr lang="en-HK" sz="2000" dirty="0">
                <a:latin typeface="Century Gothic" panose="020B0502020202020204" pitchFamily="34" charset="0"/>
              </a:rPr>
              <a:t>Mobile Banking</a:t>
            </a:r>
          </a:p>
          <a:p>
            <a:r>
              <a:rPr lang="en-HK" sz="2000" dirty="0">
                <a:latin typeface="Century Gothic" panose="020B0502020202020204" pitchFamily="34" charset="0"/>
              </a:rPr>
              <a:t>Payment Applications</a:t>
            </a:r>
          </a:p>
          <a:p>
            <a:r>
              <a:rPr lang="en-HK" sz="2000" dirty="0">
                <a:latin typeface="Century Gothic" panose="020B0502020202020204" pitchFamily="34" charset="0"/>
              </a:rPr>
              <a:t>Biometric Technology</a:t>
            </a:r>
          </a:p>
          <a:p>
            <a:endParaRPr lang="en-HK" sz="2000" dirty="0">
              <a:latin typeface="Century Gothic" panose="020B0502020202020204" pitchFamily="34" charset="0"/>
            </a:endParaRPr>
          </a:p>
        </p:txBody>
      </p:sp>
    </p:spTree>
    <p:extLst>
      <p:ext uri="{BB962C8B-B14F-4D97-AF65-F5344CB8AC3E}">
        <p14:creationId xmlns:p14="http://schemas.microsoft.com/office/powerpoint/2010/main" val="1635119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AD26-0FE2-4349-A8FD-7B0C5D2829B8}"/>
              </a:ext>
            </a:extLst>
          </p:cNvPr>
          <p:cNvSpPr>
            <a:spLocks noGrp="1"/>
          </p:cNvSpPr>
          <p:nvPr>
            <p:ph type="title"/>
          </p:nvPr>
        </p:nvSpPr>
        <p:spPr>
          <a:xfrm>
            <a:off x="932688" y="182880"/>
            <a:ext cx="10168128" cy="1179576"/>
          </a:xfrm>
        </p:spPr>
        <p:txBody>
          <a:bodyPr/>
          <a:lstStyle/>
          <a:p>
            <a:r>
              <a:rPr lang="en-HK" u="sng" dirty="0"/>
              <a:t>References</a:t>
            </a:r>
            <a:r>
              <a:rPr lang="en-HK" dirty="0"/>
              <a:t>:</a:t>
            </a:r>
          </a:p>
        </p:txBody>
      </p:sp>
      <p:sp>
        <p:nvSpPr>
          <p:cNvPr id="3" name="Content Placeholder 2">
            <a:extLst>
              <a:ext uri="{FF2B5EF4-FFF2-40B4-BE49-F238E27FC236}">
                <a16:creationId xmlns:a16="http://schemas.microsoft.com/office/drawing/2014/main" id="{1089DFAF-C1E9-4E1C-85A4-03519658B1E8}"/>
              </a:ext>
            </a:extLst>
          </p:cNvPr>
          <p:cNvSpPr>
            <a:spLocks noGrp="1"/>
          </p:cNvSpPr>
          <p:nvPr>
            <p:ph idx="1"/>
          </p:nvPr>
        </p:nvSpPr>
        <p:spPr>
          <a:xfrm>
            <a:off x="538480" y="1473200"/>
            <a:ext cx="11196320" cy="5201920"/>
          </a:xfrm>
        </p:spPr>
        <p:txBody>
          <a:bodyPr>
            <a:normAutofit lnSpcReduction="10000"/>
          </a:bodyPr>
          <a:lstStyle/>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The Points Guy. 2020. </a:t>
            </a:r>
            <a:r>
              <a:rPr lang="en-US" sz="1600" b="0" i="1" dirty="0">
                <a:solidFill>
                  <a:srgbClr val="000000"/>
                </a:solidFill>
                <a:effectLst/>
                <a:latin typeface="Times New Roman" panose="02020603050405020304" pitchFamily="18" charset="0"/>
                <a:cs typeface="Times New Roman" panose="02020603050405020304" pitchFamily="18" charset="0"/>
              </a:rPr>
              <a:t>Contactless Payments: A Complete Guide - The Points Guy</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&lt;https://thepointsguy.com/guide/contactless-payment-guide/&gt;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The Motley Fool. 2020. </a:t>
            </a:r>
            <a:r>
              <a:rPr lang="en-US" sz="1600" b="0" i="1" dirty="0">
                <a:solidFill>
                  <a:srgbClr val="000000"/>
                </a:solidFill>
                <a:effectLst/>
                <a:latin typeface="Times New Roman" panose="02020603050405020304" pitchFamily="18" charset="0"/>
                <a:cs typeface="Times New Roman" panose="02020603050405020304" pitchFamily="18" charset="0"/>
              </a:rPr>
              <a:t>Contactless Payments Are Set To Continue Growing Post-COVID | The Ascent</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&lt;https://www.fool.com/the-ascent/research/contactless-payments/&gt;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Square. 2020. </a:t>
            </a:r>
            <a:r>
              <a:rPr lang="en-US" sz="1600" b="0" i="1" dirty="0">
                <a:solidFill>
                  <a:srgbClr val="000000"/>
                </a:solidFill>
                <a:effectLst/>
                <a:latin typeface="Times New Roman" panose="02020603050405020304" pitchFamily="18" charset="0"/>
                <a:cs typeface="Times New Roman" panose="02020603050405020304" pitchFamily="18" charset="0"/>
              </a:rPr>
              <a:t>What Is A Contactless Payment?</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&lt;https://squareup.com/us/en/townsquare/what-is-a-contactless-payment&gt;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Research, Z., 2020. </a:t>
            </a:r>
            <a:r>
              <a:rPr lang="en-US" sz="1600" b="0" i="1" dirty="0">
                <a:solidFill>
                  <a:srgbClr val="000000"/>
                </a:solidFill>
                <a:effectLst/>
                <a:latin typeface="Times New Roman" panose="02020603050405020304" pitchFamily="18" charset="0"/>
                <a:cs typeface="Times New Roman" panose="02020603050405020304" pitchFamily="18" charset="0"/>
              </a:rPr>
              <a:t>5 Stocks To Watch As Contactless Payments Gain Traction</a:t>
            </a:r>
            <a:r>
              <a:rPr lang="en-US" sz="1600" b="0" i="0" dirty="0">
                <a:solidFill>
                  <a:srgbClr val="000000"/>
                </a:solidFill>
                <a:effectLst/>
                <a:latin typeface="Times New Roman" panose="02020603050405020304" pitchFamily="18" charset="0"/>
                <a:cs typeface="Times New Roman" panose="02020603050405020304" pitchFamily="18" charset="0"/>
              </a:rPr>
              <a:t>. [online] Zacks Investment Research. Available at: &lt;https://www.zacks.com/stock/news/1028606/5-stocks-to-watch-as-contactless-payments-gain-traction&gt; [Accessed 10 December 2020].</a:t>
            </a:r>
          </a:p>
          <a:p>
            <a:pPr>
              <a:buFont typeface="Wingdings" panose="05000000000000000000" pitchFamily="2" charset="2"/>
              <a:buChar char="Ø"/>
            </a:pPr>
            <a:r>
              <a:rPr lang="en-HK" sz="1600" b="0" i="0" dirty="0">
                <a:solidFill>
                  <a:srgbClr val="000000"/>
                </a:solidFill>
                <a:effectLst/>
                <a:latin typeface="Times New Roman" panose="02020603050405020304" pitchFamily="18" charset="0"/>
                <a:cs typeface="Times New Roman" panose="02020603050405020304" pitchFamily="18" charset="0"/>
              </a:rPr>
              <a:t>Forbes.com. 2020. [online] Available at: &lt;https://www.forbes.com/advisor/banking/banking-after-covid-19-the-rise-of-contactless-payments-in-the-u-s/&gt;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Mastercard.us. 2020. </a:t>
            </a:r>
            <a:r>
              <a:rPr lang="en-US" sz="1600" b="0" i="1" dirty="0">
                <a:solidFill>
                  <a:srgbClr val="000000"/>
                </a:solidFill>
                <a:effectLst/>
                <a:latin typeface="Times New Roman" panose="02020603050405020304" pitchFamily="18" charset="0"/>
                <a:cs typeface="Times New Roman" panose="02020603050405020304" pitchFamily="18" charset="0"/>
              </a:rPr>
              <a:t>Mastercard Contactless Payments | Just Tap And Go</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&lt;https://www.mastercard.us/en-us/personal/ways-to-pay/contactless.html&gt;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Usa.visa.com. 2020. </a:t>
            </a:r>
            <a:r>
              <a:rPr lang="en-US" sz="1600" b="0" i="1" dirty="0">
                <a:solidFill>
                  <a:srgbClr val="000000"/>
                </a:solidFill>
                <a:effectLst/>
                <a:latin typeface="Times New Roman" panose="02020603050405020304" pitchFamily="18" charset="0"/>
                <a:cs typeface="Times New Roman" panose="02020603050405020304" pitchFamily="18" charset="0"/>
              </a:rPr>
              <a:t>Tap To Pay With Visa</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&lt;https://usa.visa.com/pay-with-visa/contactless-payments/contactless-cards.html&gt; [Accessed 10 December 2020].</a:t>
            </a:r>
          </a:p>
          <a:p>
            <a:pPr>
              <a:buFont typeface="Wingdings" panose="05000000000000000000" pitchFamily="2" charset="2"/>
              <a:buChar char="Ø"/>
            </a:pPr>
            <a:r>
              <a:rPr lang="en-US" sz="1600" b="0" i="0" dirty="0">
                <a:solidFill>
                  <a:srgbClr val="000000"/>
                </a:solidFill>
                <a:effectLst/>
                <a:latin typeface="Times New Roman" panose="02020603050405020304" pitchFamily="18" charset="0"/>
                <a:cs typeface="Times New Roman" panose="02020603050405020304" pitchFamily="18" charset="0"/>
              </a:rPr>
              <a:t>Clover. 2020. </a:t>
            </a:r>
            <a:r>
              <a:rPr lang="en-US" sz="1600" b="0" i="1" dirty="0">
                <a:solidFill>
                  <a:srgbClr val="000000"/>
                </a:solidFill>
                <a:effectLst/>
                <a:latin typeface="Times New Roman" panose="02020603050405020304" pitchFamily="18" charset="0"/>
                <a:cs typeface="Times New Roman" panose="02020603050405020304" pitchFamily="18" charset="0"/>
              </a:rPr>
              <a:t>Contactless Payments | Clover</a:t>
            </a:r>
            <a:r>
              <a:rPr lang="en-US" sz="1600" b="0" i="0" dirty="0">
                <a:solidFill>
                  <a:srgbClr val="000000"/>
                </a:solidFill>
                <a:effectLst/>
                <a:latin typeface="Times New Roman" panose="02020603050405020304" pitchFamily="18" charset="0"/>
                <a:cs typeface="Times New Roman" panose="02020603050405020304" pitchFamily="18" charset="0"/>
              </a:rPr>
              <a:t>. [online] Available at: &lt;https://blog.clover.com/contactless-payments/&gt; [Accessed 10 December 2020].</a:t>
            </a:r>
            <a:endParaRPr lang="en-US" b="0" i="0" dirty="0">
              <a:solidFill>
                <a:srgbClr val="000000"/>
              </a:solidFill>
              <a:effectLst/>
              <a:latin typeface="Open Sans"/>
            </a:endParaRPr>
          </a:p>
          <a:p>
            <a:pPr marL="0" indent="0">
              <a:buNone/>
            </a:pPr>
            <a:endParaRPr lang="en-HK" dirty="0"/>
          </a:p>
        </p:txBody>
      </p:sp>
    </p:spTree>
    <p:extLst>
      <p:ext uri="{BB962C8B-B14F-4D97-AF65-F5344CB8AC3E}">
        <p14:creationId xmlns:p14="http://schemas.microsoft.com/office/powerpoint/2010/main" val="1186876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F843-1F7A-4264-8EF8-468B48879287}"/>
              </a:ext>
            </a:extLst>
          </p:cNvPr>
          <p:cNvSpPr>
            <a:spLocks noGrp="1"/>
          </p:cNvSpPr>
          <p:nvPr>
            <p:ph type="title"/>
          </p:nvPr>
        </p:nvSpPr>
        <p:spPr/>
        <p:txBody>
          <a:bodyPr/>
          <a:lstStyle/>
          <a:p>
            <a:r>
              <a:rPr lang="en-HK" i="1" u="sng" dirty="0">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940710545"/>
      </p:ext>
    </p:extLst>
  </p:cSld>
  <p:clrMapOvr>
    <a:masterClrMapping/>
  </p:clrMapOvr>
</p:sld>
</file>

<file path=ppt/theme/theme1.xml><?xml version="1.0" encoding="utf-8"?>
<a:theme xmlns:a="http://schemas.openxmlformats.org/drawingml/2006/main" name="AccentBoxVTI">
  <a:themeElements>
    <a:clrScheme name="AnalogousFromLightSeedRightStep">
      <a:dk1>
        <a:srgbClr val="000000"/>
      </a:dk1>
      <a:lt1>
        <a:srgbClr val="FFFFFF"/>
      </a:lt1>
      <a:dk2>
        <a:srgbClr val="412524"/>
      </a:dk2>
      <a:lt2>
        <a:srgbClr val="E2E8E8"/>
      </a:lt2>
      <a:accent1>
        <a:srgbClr val="C69896"/>
      </a:accent1>
      <a:accent2>
        <a:srgbClr val="BA997F"/>
      </a:accent2>
      <a:accent3>
        <a:srgbClr val="AAA480"/>
      </a:accent3>
      <a:accent4>
        <a:srgbClr val="9BAA74"/>
      </a:accent4>
      <a:accent5>
        <a:srgbClr val="8FAC82"/>
      </a:accent5>
      <a:accent6>
        <a:srgbClr val="78B07E"/>
      </a:accent6>
      <a:hlink>
        <a:srgbClr val="568D8F"/>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255</TotalTime>
  <Words>1023</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Bell MT</vt:lpstr>
      <vt:lpstr>Calibri</vt:lpstr>
      <vt:lpstr>Century Gothic</vt:lpstr>
      <vt:lpstr>Neue Haas Grotesk Text Pro</vt:lpstr>
      <vt:lpstr>Open Sans</vt:lpstr>
      <vt:lpstr>Times New Roman</vt:lpstr>
      <vt:lpstr>Wingdings</vt:lpstr>
      <vt:lpstr>AccentBoxVTI</vt:lpstr>
      <vt:lpstr>Contactless Payment</vt:lpstr>
      <vt:lpstr>Introduction</vt:lpstr>
      <vt:lpstr>Research Questions</vt:lpstr>
      <vt:lpstr>Contactless Payment:</vt:lpstr>
      <vt:lpstr>Methods How contactless payments works:</vt:lpstr>
      <vt:lpstr>Security Facts of contactless payment:</vt:lpstr>
      <vt:lpstr>Types of contactless payment:</vt:lpstr>
      <vt:lpstr>Why we use Contactless Payment:</vt:lpstr>
      <vt:lpstr>Economy Measures In contactless Payment:</vt:lpstr>
      <vt:lpstr>Changes Occurs Due to the Contactless Payment :</vt:lpstr>
      <vt:lpstr>Future Of Contactless Payment:</vt:lpstr>
      <vt:lpstr>References:</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Contactless Payment</dc:title>
  <dc:creator>Pooja Patel</dc:creator>
  <cp:lastModifiedBy>Pooja Patel</cp:lastModifiedBy>
  <cp:revision>32</cp:revision>
  <dcterms:created xsi:type="dcterms:W3CDTF">2020-12-10T09:17:04Z</dcterms:created>
  <dcterms:modified xsi:type="dcterms:W3CDTF">2020-12-10T14:16:55Z</dcterms:modified>
</cp:coreProperties>
</file>